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80" r:id="rId3"/>
    <p:sldId id="271" r:id="rId4"/>
    <p:sldId id="290" r:id="rId5"/>
    <p:sldId id="273" r:id="rId6"/>
    <p:sldId id="276" r:id="rId7"/>
    <p:sldId id="277" r:id="rId8"/>
    <p:sldId id="298" r:id="rId9"/>
    <p:sldId id="291" r:id="rId10"/>
    <p:sldId id="293" r:id="rId11"/>
    <p:sldId id="294" r:id="rId12"/>
    <p:sldId id="296" r:id="rId13"/>
    <p:sldId id="295" r:id="rId14"/>
    <p:sldId id="286" r:id="rId15"/>
    <p:sldId id="287" r:id="rId16"/>
    <p:sldId id="289" r:id="rId17"/>
    <p:sldId id="292" r:id="rId18"/>
    <p:sldId id="297" r:id="rId19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2320"/>
  </p:normalViewPr>
  <p:slideViewPr>
    <p:cSldViewPr showGuides="1">
      <p:cViewPr>
        <p:scale>
          <a:sx n="75" d="100"/>
          <a:sy n="75" d="100"/>
        </p:scale>
        <p:origin x="-36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DC286A-5566-49F2-9EA8-BB501A3EE1C5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eaLnBrk="1" hangingPunct="1">
              <a:buNone/>
            </a:pPr>
            <a:fld id="{9A0DB2DC-4C9A-4742-B13C-FB6460FD3503}" type="slidenum">
              <a:rPr lang="en-US" sz="1200" dirty="0"/>
            </a:fld>
            <a:endParaRPr 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dirty="0"/>
              <a:t>Click to edit Master title style</a:t>
            </a:r>
            <a:endParaRPr dirty="0"/>
          </a:p>
        </p:txBody>
      </p:sp>
      <p:sp>
        <p:nvSpPr>
          <p:cNvPr id="2051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dirty="0"/>
              <a:t>Click to edit Master text styles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dirty="0"/>
          </a:p>
          <a:p>
            <a:pPr lvl="4"/>
            <a:r>
              <a:rPr dirty="0"/>
              <a:t>Fifth level</a:t>
            </a:r>
            <a:endParaRPr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.e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3.jpeg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5.jpeg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7.jpeg"/><Relationship Id="rId3" Type="http://schemas.openxmlformats.org/officeDocument/2006/relationships/image" Target="../media/image16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Rectangle 4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dirty="0"/>
              <a:t>Business Review</a:t>
            </a:r>
            <a:br>
              <a:rPr dirty="0"/>
            </a:br>
            <a:r>
              <a:rPr dirty="0"/>
              <a:t>For the Month of April ‘10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dirty="0"/>
              <a:t>Project Management</a:t>
            </a:r>
            <a:endParaRPr dirty="0"/>
          </a:p>
        </p:txBody>
      </p:sp>
      <p:sp>
        <p:nvSpPr>
          <p:cNvPr id="4099" name="Rectangle 3"/>
          <p:cNvSpPr>
            <a:spLocks noGrp="1"/>
          </p:cNvSpPr>
          <p:nvPr>
            <p:ph type="subTitle"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ClrTx/>
              <a:buSzTx/>
              <a:buFontTx/>
            </a:pPr>
            <a:r>
              <a:rPr dirty="0">
                <a:latin typeface="+mn-lt"/>
                <a:ea typeface="+mn-ea"/>
                <a:cs typeface="+mn-cs"/>
              </a:rPr>
              <a:t>Review</a:t>
            </a:r>
            <a:endParaRPr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dirty="0"/>
              <a:t>Planning &amp; Design </a:t>
            </a:r>
            <a:endParaRPr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370013"/>
          <a:ext cx="7315200" cy="4650044"/>
        </p:xfrm>
        <a:graphic>
          <a:graphicData uri="http://schemas.openxmlformats.org/drawingml/2006/table">
            <a:tbl>
              <a:tblPr/>
              <a:tblGrid>
                <a:gridCol w="1843431"/>
                <a:gridCol w="3085685"/>
                <a:gridCol w="2386084"/>
              </a:tblGrid>
              <a:tr h="4903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latin typeface="Cambria" panose="02040503050406030204"/>
                        </a:rPr>
                        <a:t>Planning and Design Item</a:t>
                      </a:r>
                      <a:endParaRPr lang="en-US" sz="1100" b="1" i="0" u="none" strike="noStrike" dirty="0">
                        <a:latin typeface="Cambria" panose="02040503050406030204"/>
                      </a:endParaRPr>
                    </a:p>
                  </a:txBody>
                  <a:tcPr marL="4608" marR="4608" marT="460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latin typeface="Cambria" panose="02040503050406030204"/>
                        </a:rPr>
                        <a:t>Status</a:t>
                      </a:r>
                      <a:endParaRPr lang="en-US" sz="1100" b="1" i="0" u="none" strike="noStrike">
                        <a:latin typeface="Cambria" panose="02040503050406030204"/>
                      </a:endParaRPr>
                    </a:p>
                  </a:txBody>
                  <a:tcPr marL="4608" marR="4608" marT="460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latin typeface="Cambria" panose="02040503050406030204"/>
                        </a:rPr>
                        <a:t>Next Steps</a:t>
                      </a:r>
                      <a:endParaRPr lang="en-US" sz="1100" b="1" i="0" u="none" strike="noStrike">
                        <a:latin typeface="Cambria" panose="02040503050406030204"/>
                      </a:endParaRPr>
                    </a:p>
                  </a:txBody>
                  <a:tcPr marL="4608" marR="4608" marT="460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19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latin typeface="Cambria" panose="02040503050406030204"/>
                        </a:rPr>
                        <a:t>Master Plan</a:t>
                      </a:r>
                      <a:endParaRPr lang="en-US" sz="1100" b="1" i="0" u="none" strike="noStrike">
                        <a:latin typeface="Cambria" panose="02040503050406030204"/>
                      </a:endParaRPr>
                    </a:p>
                  </a:txBody>
                  <a:tcPr marL="4608" marR="4608" marT="460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latin typeface="Cambria" panose="02040503050406030204"/>
                        </a:rPr>
                        <a:t>Completed</a:t>
                      </a:r>
                      <a:endParaRPr lang="en-US" sz="1100" b="0" i="0" u="none" strike="noStrike">
                        <a:latin typeface="Cambria" panose="02040503050406030204"/>
                      </a:endParaRPr>
                    </a:p>
                  </a:txBody>
                  <a:tcPr marL="4608" marR="4608" marT="460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latin typeface="Cambria" panose="02040503050406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latin typeface="Cambria" panose="02040503050406030204"/>
                        </a:rPr>
                        <a:t>Landscape  GFC drawings – Target    June 2010</a:t>
                      </a:r>
                      <a:endParaRPr lang="en-US" sz="1100" b="0" i="0" u="none" strike="noStrike" dirty="0">
                        <a:latin typeface="Cambria" panose="02040503050406030204"/>
                      </a:endParaRPr>
                    </a:p>
                  </a:txBody>
                  <a:tcPr marL="4608" marR="4608" marT="460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974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latin typeface="Cambria" panose="02040503050406030204"/>
                        </a:rPr>
                        <a:t>Master Landscape Plan</a:t>
                      </a:r>
                      <a:endParaRPr lang="en-US" sz="1100" b="1" i="0" u="none" strike="noStrike">
                        <a:latin typeface="Cambria" panose="02040503050406030204"/>
                      </a:endParaRPr>
                    </a:p>
                  </a:txBody>
                  <a:tcPr marL="4608" marR="4608" marT="460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latin typeface="Cambria" panose="02040503050406030204"/>
                        </a:rPr>
                        <a:t>Ph-1 </a:t>
                      </a:r>
                      <a:r>
                        <a:rPr lang="en-US" sz="1100" b="0" i="0" u="none" strike="noStrike" dirty="0" smtClean="0">
                          <a:latin typeface="Cambria" panose="02040503050406030204"/>
                        </a:rPr>
                        <a:t>– Schematic</a:t>
                      </a:r>
                      <a:r>
                        <a:rPr lang="en-US" sz="1100" b="0" i="0" u="none" strike="noStrike" baseline="0" dirty="0" smtClean="0">
                          <a:latin typeface="Cambria" panose="02040503050406030204"/>
                        </a:rPr>
                        <a:t> design completed. </a:t>
                      </a:r>
                      <a:endParaRPr lang="en-US" sz="1100" b="0" i="0" u="none" strike="noStrike" baseline="0" dirty="0" smtClean="0">
                        <a:latin typeface="Cambria" panose="02040503050406030204"/>
                      </a:endParaRPr>
                    </a:p>
                    <a:p>
                      <a:pPr algn="l" fontAlgn="ctr"/>
                      <a:r>
                        <a:rPr lang="en-US" sz="1100" b="0" i="0" u="none" strike="noStrike" baseline="0" dirty="0" smtClean="0">
                          <a:latin typeface="Cambria" panose="02040503050406030204"/>
                        </a:rPr>
                        <a:t>Ph-</a:t>
                      </a:r>
                      <a:r>
                        <a:rPr lang="en-US" sz="1100" b="0" i="0" u="none" strike="noStrike" dirty="0" smtClean="0">
                          <a:latin typeface="Cambria" panose="02040503050406030204"/>
                        </a:rPr>
                        <a:t>2 – Concept design</a:t>
                      </a:r>
                      <a:r>
                        <a:rPr lang="en-US" sz="1100" b="0" i="0" u="none" strike="noStrike" baseline="0" dirty="0" smtClean="0">
                          <a:latin typeface="Cambria" panose="02040503050406030204"/>
                        </a:rPr>
                        <a:t> 25% complete -</a:t>
                      </a:r>
                      <a:r>
                        <a:rPr lang="en-US" sz="1100" b="0" i="0" u="none" strike="noStrike" dirty="0" smtClean="0">
                          <a:latin typeface="Cambria" panose="02040503050406030204"/>
                        </a:rPr>
                        <a:t> </a:t>
                      </a:r>
                      <a:r>
                        <a:rPr lang="en-US" sz="1100" b="0" i="0" u="none" strike="noStrike" dirty="0">
                          <a:latin typeface="Cambria" panose="02040503050406030204"/>
                        </a:rPr>
                        <a:t>Target date </a:t>
                      </a:r>
                      <a:r>
                        <a:rPr lang="en-US" sz="1100" b="0" i="0" u="none" strike="noStrike" dirty="0" smtClean="0">
                          <a:latin typeface="Cambria" panose="02040503050406030204"/>
                        </a:rPr>
                        <a:t>June 2010</a:t>
                      </a:r>
                      <a:endParaRPr lang="en-US" sz="1100" b="0" i="0" u="none" strike="noStrike" dirty="0">
                        <a:latin typeface="Cambria" panose="02040503050406030204"/>
                      </a:endParaRPr>
                    </a:p>
                  </a:txBody>
                  <a:tcPr marL="4608" marR="4608" marT="460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latin typeface="Cambria" panose="02040503050406030204"/>
                        </a:rPr>
                        <a:t>Ph-1 </a:t>
                      </a:r>
                      <a:r>
                        <a:rPr lang="en-US" sz="1100" b="0" i="0" u="none" strike="noStrike" dirty="0" smtClean="0">
                          <a:latin typeface="Cambria" panose="02040503050406030204"/>
                        </a:rPr>
                        <a:t>–  Material codes and schedule of finishes  - Target May 2010</a:t>
                      </a:r>
                      <a:endParaRPr lang="en-US" sz="1100" b="0" i="0" u="none" strike="noStrike" dirty="0" smtClean="0">
                        <a:latin typeface="Cambria" panose="02040503050406030204"/>
                      </a:endParaRPr>
                    </a:p>
                    <a:p>
                      <a:pPr algn="l" fontAlgn="ctr"/>
                      <a:r>
                        <a:rPr lang="en-US" sz="1100" b="0" i="0" u="none" strike="noStrike" dirty="0" smtClean="0">
                          <a:latin typeface="Cambria" panose="02040503050406030204"/>
                        </a:rPr>
                        <a:t>Ph-2 – Schematic</a:t>
                      </a:r>
                      <a:r>
                        <a:rPr lang="en-US" sz="1100" b="0" i="0" u="none" strike="noStrike" baseline="0" dirty="0" smtClean="0">
                          <a:latin typeface="Cambria" panose="02040503050406030204"/>
                        </a:rPr>
                        <a:t> design  - Target July 2010</a:t>
                      </a:r>
                      <a:r>
                        <a:rPr lang="en-US" sz="1100" b="0" i="0" u="none" strike="noStrike" dirty="0" smtClean="0">
                          <a:latin typeface="Cambria" panose="02040503050406030204"/>
                        </a:rPr>
                        <a:t> </a:t>
                      </a:r>
                      <a:endParaRPr lang="en-US" sz="1100" b="0" i="0" u="none" strike="noStrike" dirty="0">
                        <a:latin typeface="Cambria" panose="02040503050406030204"/>
                      </a:endParaRPr>
                    </a:p>
                  </a:txBody>
                  <a:tcPr marL="4608" marR="4608" marT="460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610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latin typeface="Cambria" panose="02040503050406030204"/>
                        </a:rPr>
                        <a:t>Architectural Plans</a:t>
                      </a:r>
                      <a:endParaRPr lang="en-US" sz="1100" b="1" i="0" u="none" strike="noStrike">
                        <a:latin typeface="Cambria" panose="02040503050406030204"/>
                      </a:endParaRPr>
                    </a:p>
                  </a:txBody>
                  <a:tcPr marL="4608" marR="4608" marT="460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latin typeface="Cambria" panose="02040503050406030204"/>
                        </a:rPr>
                        <a:t>Ph-1 - GFC for </a:t>
                      </a:r>
                      <a:r>
                        <a:rPr lang="en-US" sz="1100" b="0" i="0" u="none" strike="noStrike" dirty="0" smtClean="0">
                          <a:latin typeface="Cambria" panose="02040503050406030204"/>
                        </a:rPr>
                        <a:t> Phase 1A completed.  </a:t>
                      </a:r>
                      <a:br>
                        <a:rPr lang="en-US" sz="1100" b="0" i="0" u="none" strike="noStrike" dirty="0">
                          <a:latin typeface="Cambria" panose="02040503050406030204"/>
                        </a:rPr>
                      </a:br>
                      <a:r>
                        <a:rPr lang="en-US" sz="1100" b="0" i="0" u="none" strike="noStrike" dirty="0">
                          <a:latin typeface="Cambria" panose="02040503050406030204"/>
                        </a:rPr>
                        <a:t>Ph -1 - GFC for Ph- 1B to 1D in progress. </a:t>
                      </a:r>
                      <a:br>
                        <a:rPr lang="en-US" sz="1100" b="0" i="0" u="none" strike="noStrike" dirty="0">
                          <a:latin typeface="Cambria" panose="02040503050406030204"/>
                        </a:rPr>
                      </a:br>
                      <a:r>
                        <a:rPr lang="en-US" sz="1100" b="0" i="0" u="none" strike="noStrike" dirty="0">
                          <a:latin typeface="Cambria" panose="02040503050406030204"/>
                        </a:rPr>
                        <a:t>Ph-2 </a:t>
                      </a:r>
                      <a:r>
                        <a:rPr lang="en-US" sz="1100" b="0" i="0" u="none" strike="noStrike" dirty="0" smtClean="0">
                          <a:latin typeface="Cambria" panose="02040503050406030204"/>
                        </a:rPr>
                        <a:t>– Schematic Design completed. Foundation</a:t>
                      </a:r>
                      <a:r>
                        <a:rPr lang="en-US" sz="1100" b="0" i="0" u="none" strike="noStrike" baseline="0" dirty="0" smtClean="0">
                          <a:latin typeface="Cambria" panose="02040503050406030204"/>
                        </a:rPr>
                        <a:t> details being worked out. </a:t>
                      </a:r>
                      <a:endParaRPr lang="en-US" sz="1100" b="0" i="0" u="none" strike="noStrike" dirty="0">
                        <a:latin typeface="Cambria" panose="02040503050406030204"/>
                      </a:endParaRPr>
                    </a:p>
                  </a:txBody>
                  <a:tcPr marL="4608" marR="4608" marT="460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latin typeface="Cambria" panose="02040503050406030204"/>
                        </a:rPr>
                        <a:t>Ph-1</a:t>
                      </a:r>
                      <a:r>
                        <a:rPr lang="en-US" sz="1100" b="0" i="0" u="none" strike="noStrike" baseline="0" dirty="0" smtClean="0">
                          <a:latin typeface="Cambria" panose="02040503050406030204"/>
                        </a:rPr>
                        <a:t> –  Release of GFC for Ph-1B to 1D </a:t>
                      </a:r>
                      <a:endParaRPr lang="en-US" sz="1100" b="0" i="0" u="none" strike="noStrike" baseline="0" dirty="0" smtClean="0">
                        <a:latin typeface="Cambria" panose="02040503050406030204"/>
                      </a:endParaRPr>
                    </a:p>
                    <a:p>
                      <a:pPr algn="l" fontAlgn="ctr"/>
                      <a:r>
                        <a:rPr lang="en-US" sz="1100" b="0" i="0" u="none" strike="noStrike" dirty="0" smtClean="0">
                          <a:latin typeface="Cambria" panose="02040503050406030204"/>
                        </a:rPr>
                        <a:t>Ph-2  - Detailed Design for  Architectural  and services 100% completed. </a:t>
                      </a:r>
                      <a:endParaRPr lang="en-US" sz="1100" b="0" i="0" u="none" strike="noStrike" dirty="0" smtClean="0">
                        <a:latin typeface="Cambria" panose="02040503050406030204"/>
                      </a:endParaRPr>
                    </a:p>
                    <a:p>
                      <a:pPr algn="l" fontAlgn="ctr"/>
                      <a:r>
                        <a:rPr lang="en-US" sz="1100" b="0" i="0" u="none" strike="noStrike" dirty="0" smtClean="0">
                          <a:latin typeface="Cambria" panose="02040503050406030204"/>
                        </a:rPr>
                        <a:t>Structural  25% complete. – Target May 2010</a:t>
                      </a:r>
                      <a:endParaRPr lang="en-US" sz="1100" b="0" i="0" u="none" strike="noStrike" dirty="0" smtClean="0">
                        <a:latin typeface="Cambria" panose="02040503050406030204"/>
                      </a:endParaRPr>
                    </a:p>
                    <a:p>
                      <a:pPr algn="l" fontAlgn="ctr"/>
                      <a:r>
                        <a:rPr lang="en-US" sz="1100" b="0" i="0" u="none" strike="noStrike" dirty="0" smtClean="0">
                          <a:latin typeface="Cambria" panose="02040503050406030204"/>
                        </a:rPr>
                        <a:t>Ph-2 – Civil Tender  in progress</a:t>
                      </a:r>
                      <a:r>
                        <a:rPr lang="en-US" sz="1100" b="0" i="0" u="none" strike="noStrike" baseline="0" dirty="0" smtClean="0">
                          <a:latin typeface="Cambria" panose="02040503050406030204"/>
                        </a:rPr>
                        <a:t> - Target May 2010</a:t>
                      </a:r>
                      <a:endParaRPr lang="en-US" sz="1100" b="0" i="0" u="none" strike="noStrike" baseline="0" dirty="0" smtClean="0">
                        <a:latin typeface="Cambria" panose="02040503050406030204"/>
                      </a:endParaRPr>
                    </a:p>
                    <a:p>
                      <a:pPr algn="l" fontAlgn="ctr"/>
                      <a:r>
                        <a:rPr lang="en-US" sz="1100" b="0" i="0" u="none" strike="noStrike" baseline="0" dirty="0" smtClean="0">
                          <a:latin typeface="Cambria" panose="02040503050406030204"/>
                        </a:rPr>
                        <a:t> </a:t>
                      </a:r>
                      <a:endParaRPr lang="en-US" sz="1100" b="0" i="0" u="none" strike="noStrike" dirty="0">
                        <a:latin typeface="Cambria" panose="02040503050406030204"/>
                      </a:endParaRPr>
                    </a:p>
                  </a:txBody>
                  <a:tcPr marL="4608" marR="4608" marT="460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dirty="0"/>
              <a:t>Permits / Approvals</a:t>
            </a:r>
            <a:endParaRPr dirty="0"/>
          </a:p>
        </p:txBody>
      </p:sp>
      <p:graphicFrame>
        <p:nvGraphicFramePr>
          <p:cNvPr id="1026" name="Object 3"/>
          <p:cNvGraphicFramePr>
            <a:graphicFrameLocks noGrp="1"/>
          </p:cNvGraphicFramePr>
          <p:nvPr>
            <p:ph sz="half" idx="1"/>
          </p:nvPr>
        </p:nvGraphicFramePr>
        <p:xfrm>
          <a:off x="714375" y="1778000"/>
          <a:ext cx="7789863" cy="284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7800340" imgH="2856230" progId="Excel.Sheet.8">
                  <p:embed/>
                </p:oleObj>
              </mc:Choice>
              <mc:Fallback>
                <p:oleObj name="" r:id="rId1" imgW="7800340" imgH="2856230" progId="Excel.Sheet.8">
                  <p:embed/>
                  <p:pic>
                    <p:nvPicPr>
                      <p:cNvPr id="0" name="Picture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14375" y="1778000"/>
                        <a:ext cx="7789863" cy="28448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sz="2400" b="1" dirty="0"/>
              <a:t>Development</a:t>
            </a:r>
            <a:r>
              <a:rPr sz="2400" dirty="0"/>
              <a:t> </a:t>
            </a:r>
            <a:r>
              <a:rPr sz="2400" b="1" dirty="0"/>
              <a:t>Cost and Disbursements</a:t>
            </a:r>
            <a:endParaRPr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524000"/>
          <a:ext cx="7543800" cy="3886200"/>
        </p:xfrm>
        <a:graphic>
          <a:graphicData uri="http://schemas.openxmlformats.org/drawingml/2006/table">
            <a:tbl>
              <a:tblPr/>
              <a:tblGrid>
                <a:gridCol w="2386304"/>
                <a:gridCol w="1713588"/>
                <a:gridCol w="1721954"/>
                <a:gridCol w="1721954"/>
              </a:tblGrid>
              <a:tr h="49867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latin typeface="Arial" panose="020B0604020202020204"/>
                        </a:rPr>
                        <a:t>Payment Category</a:t>
                      </a:r>
                      <a:endParaRPr lang="en-US" sz="1200" b="1" i="0" u="none" strike="noStrike" dirty="0"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latin typeface="Arial" panose="020B0604020202020204"/>
                        </a:rPr>
                        <a:t>Current payments (in INR Millions)</a:t>
                      </a:r>
                      <a:endParaRPr lang="en-US" sz="1200" b="1" i="0" u="none" strike="noStrike" dirty="0"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309521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smtClean="0">
                          <a:latin typeface="Arial" panose="020B0604020202020204"/>
                        </a:rPr>
                        <a:t>Up to </a:t>
                      </a:r>
                      <a:r>
                        <a:rPr lang="en-US" sz="1200" b="1" i="0" u="none" strike="noStrike" dirty="0" smtClean="0">
                          <a:latin typeface="Arial" panose="020B0604020202020204"/>
                        </a:rPr>
                        <a:t>Mar </a:t>
                      </a:r>
                      <a:r>
                        <a:rPr lang="en-US" sz="1200" b="1" i="0" u="none" strike="noStrike" dirty="0">
                          <a:latin typeface="Arial" panose="020B0604020202020204"/>
                        </a:rPr>
                        <a:t>10</a:t>
                      </a:r>
                      <a:endParaRPr lang="en-US" sz="1200" b="1" i="0" u="none" strike="noStrike" dirty="0"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latin typeface="Arial" panose="020B0604020202020204"/>
                        </a:rPr>
                        <a:t>Month of </a:t>
                      </a:r>
                      <a:r>
                        <a:rPr lang="en-US" sz="1200" b="1" i="0" u="none" strike="noStrike" dirty="0" smtClean="0">
                          <a:latin typeface="Arial" panose="020B0604020202020204"/>
                        </a:rPr>
                        <a:t>Apr </a:t>
                      </a:r>
                      <a:r>
                        <a:rPr lang="en-US" sz="1200" b="1" i="0" u="none" strike="noStrike" dirty="0">
                          <a:latin typeface="Arial" panose="020B0604020202020204"/>
                        </a:rPr>
                        <a:t>10</a:t>
                      </a:r>
                      <a:endParaRPr lang="en-US" sz="1200" b="1" i="0" u="none" strike="noStrike" dirty="0"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smtClean="0">
                          <a:latin typeface="Arial" panose="020B0604020202020204"/>
                        </a:rPr>
                        <a:t>Up to </a:t>
                      </a:r>
                      <a:r>
                        <a:rPr lang="en-US" sz="1200" b="1" i="0" u="none" strike="noStrike" dirty="0" smtClean="0">
                          <a:latin typeface="Arial" panose="020B0604020202020204"/>
                        </a:rPr>
                        <a:t>Apr </a:t>
                      </a:r>
                      <a:r>
                        <a:rPr lang="en-US" sz="1200" b="1" i="0" u="none" strike="noStrike" dirty="0">
                          <a:latin typeface="Arial" panose="020B0604020202020204"/>
                        </a:rPr>
                        <a:t>10</a:t>
                      </a:r>
                      <a:endParaRPr lang="en-US" sz="1200" b="1" i="0" u="none" strike="noStrike" dirty="0"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57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latin typeface="Arial" panose="020B0604020202020204"/>
                        </a:rPr>
                        <a:t>Construction payments ( for the core construction packages)</a:t>
                      </a:r>
                      <a:endParaRPr lang="en-US" sz="1200" b="0" i="0" u="none" strike="noStrike" dirty="0"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latin typeface="Arial" panose="020B0604020202020204"/>
                        </a:rPr>
                        <a:t>INR </a:t>
                      </a:r>
                      <a:r>
                        <a:rPr lang="en-US" sz="1200" b="0" i="0" u="none" strike="noStrike" dirty="0" smtClean="0">
                          <a:latin typeface="Arial" panose="020B0604020202020204"/>
                        </a:rPr>
                        <a:t>4,30,91,417.00</a:t>
                      </a:r>
                      <a:endParaRPr lang="en-US" sz="1200" b="0" i="0" u="none" strike="noStrike" dirty="0"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latin typeface="Arial" panose="020B0604020202020204"/>
                        </a:rPr>
                        <a:t>INR 44,07,041.00</a:t>
                      </a:r>
                      <a:endParaRPr lang="en-US" sz="1200" b="0" i="0" u="none" strike="noStrike" dirty="0"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latin typeface="Arial" panose="020B0604020202020204"/>
                        </a:rPr>
                        <a:t>INR  4,74,98,458.00</a:t>
                      </a:r>
                      <a:endParaRPr lang="en-US" sz="1200" b="0" i="0" u="none" strike="noStrike" dirty="0"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679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latin typeface="Arial" panose="020B0604020202020204"/>
                        </a:rPr>
                        <a:t>Non-Construction payments ( excluding land cost but including fees of HOK, AI, Edifice &amp; CBRE and similar other </a:t>
                      </a:r>
                      <a:r>
                        <a:rPr lang="en-US" sz="1200" b="0" i="0" u="none" strike="noStrike" dirty="0" smtClean="0">
                          <a:latin typeface="Arial" panose="020B0604020202020204"/>
                        </a:rPr>
                        <a:t>expenses</a:t>
                      </a:r>
                      <a:r>
                        <a:rPr lang="en-US" sz="1200" b="0" i="0" u="none" strike="noStrike" dirty="0">
                          <a:latin typeface="Arial" panose="020B0604020202020204"/>
                        </a:rPr>
                        <a:t>)</a:t>
                      </a:r>
                      <a:endParaRPr lang="en-US" sz="1200" b="0" i="0" u="none" strike="noStrike" dirty="0"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latin typeface="Arial" panose="020B0604020202020204"/>
                        </a:rPr>
                        <a:t>INR </a:t>
                      </a:r>
                      <a:r>
                        <a:rPr lang="en-US" sz="1200" b="0" i="0" u="none" strike="noStrike" dirty="0" smtClean="0">
                          <a:latin typeface="Arial" panose="020B0604020202020204"/>
                        </a:rPr>
                        <a:t>8,64,06,795.00</a:t>
                      </a:r>
                      <a:endParaRPr lang="en-US" sz="1200" b="0" i="0" u="none" strike="noStrike" dirty="0"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latin typeface="Arial" panose="020B0604020202020204"/>
                        </a:rPr>
                        <a:t>INR 18,62,646.00</a:t>
                      </a:r>
                      <a:endParaRPr lang="en-US" sz="1200" b="0" i="0" u="none" strike="noStrike" dirty="0"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latin typeface="Arial" panose="020B0604020202020204"/>
                        </a:rPr>
                        <a:t>INR 8,82,69,441.00</a:t>
                      </a:r>
                      <a:endParaRPr lang="en-US" sz="1200" b="0" i="0" u="none" strike="noStrike" dirty="0"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42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latin typeface="Arial" panose="020B0604020202020204"/>
                        </a:rPr>
                        <a:t>Total</a:t>
                      </a:r>
                      <a:endParaRPr lang="en-US" sz="1200" b="1" i="0" u="none" strike="noStrike" dirty="0"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latin typeface="Arial" panose="020B0604020202020204"/>
                        </a:rPr>
                        <a:t>INR </a:t>
                      </a:r>
                      <a:r>
                        <a:rPr lang="en-US" sz="1200" b="1" i="0" u="none" strike="noStrike" dirty="0" smtClean="0">
                          <a:latin typeface="Arial" panose="020B0604020202020204"/>
                        </a:rPr>
                        <a:t>129,498,212.00</a:t>
                      </a:r>
                      <a:endParaRPr lang="en-US" sz="1200" b="1" i="0" u="none" strike="noStrike" dirty="0"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smtClean="0">
                          <a:latin typeface="Arial" panose="020B0604020202020204"/>
                        </a:rPr>
                        <a:t>INR 62,69,687.00</a:t>
                      </a:r>
                      <a:endParaRPr lang="en-US" sz="1200" b="1" i="0" u="none" strike="noStrike" dirty="0"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smtClean="0">
                          <a:latin typeface="Arial" panose="020B0604020202020204"/>
                        </a:rPr>
                        <a:t>INR 13,57,67,899.00</a:t>
                      </a:r>
                      <a:endParaRPr lang="en-US" sz="1200" b="1" i="0" u="none" strike="noStrike" dirty="0"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sz="2400" b="1" dirty="0"/>
              <a:t>OUTLOOK  --  Projected payments</a:t>
            </a:r>
            <a:endParaRPr sz="24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90600" y="1447800"/>
          <a:ext cx="7315200" cy="4343401"/>
        </p:xfrm>
        <a:graphic>
          <a:graphicData uri="http://schemas.openxmlformats.org/drawingml/2006/table">
            <a:tbl>
              <a:tblPr/>
              <a:tblGrid>
                <a:gridCol w="1930915"/>
                <a:gridCol w="1176830"/>
                <a:gridCol w="1393916"/>
                <a:gridCol w="1396772"/>
                <a:gridCol w="1416767"/>
              </a:tblGrid>
              <a:tr h="31843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 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 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b="1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 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 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 smtClean="0">
                          <a:solidFill>
                            <a:srgbClr val="1F497D"/>
                          </a:solidFill>
                          <a:latin typeface="Arial" panose="020B0604020202020204"/>
                        </a:rPr>
                        <a:t>May-10</a:t>
                      </a:r>
                      <a:endParaRPr lang="en-US" sz="1000" b="1" i="0" u="none" strike="noStrike" dirty="0">
                        <a:solidFill>
                          <a:srgbClr val="1F497D"/>
                        </a:solidFill>
                        <a:latin typeface="Arial" panose="020B0604020202020204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 smtClean="0">
                          <a:solidFill>
                            <a:srgbClr val="1F497D"/>
                          </a:solidFill>
                          <a:latin typeface="Arial" panose="020B0604020202020204"/>
                        </a:rPr>
                        <a:t>Jun-10</a:t>
                      </a:r>
                      <a:endParaRPr lang="en-US" sz="1000" b="1" i="0" u="none" strike="noStrike" dirty="0">
                        <a:solidFill>
                          <a:srgbClr val="1F497D"/>
                        </a:solidFill>
                        <a:latin typeface="Arial" panose="020B0604020202020204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 smtClean="0">
                          <a:solidFill>
                            <a:srgbClr val="1F497D"/>
                          </a:solidFill>
                          <a:latin typeface="Arial" panose="020B0604020202020204"/>
                        </a:rPr>
                        <a:t>Jul-10</a:t>
                      </a:r>
                      <a:endParaRPr lang="en-US" sz="1000" b="1" i="0" u="none" strike="noStrike" dirty="0">
                        <a:solidFill>
                          <a:srgbClr val="1F497D"/>
                        </a:solidFill>
                        <a:latin typeface="Arial" panose="020B0604020202020204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51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Construction payments   (projected payments based on current situation)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 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Contractor Payment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 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INR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2,05,78,571.00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INR 2,19,68,286.00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INR 1,62,32,857.00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770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 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 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MRDL Supply Items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 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INR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76,70,000.00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INR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81,06,050.00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INR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56,55,000.00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51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latin typeface="Arial" panose="020B0604020202020204"/>
                        </a:rPr>
                        <a:t> </a:t>
                      </a:r>
                      <a:endParaRPr lang="en-US" sz="700" b="0" i="0" u="none" strike="noStrike">
                        <a:latin typeface="Arial" panose="020B0604020202020204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Sub Total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 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INR </a:t>
                      </a:r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2,82,48,571.00</a:t>
                      </a:r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 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INR </a:t>
                      </a:r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3,00,74,336.00</a:t>
                      </a:r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 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INR </a:t>
                      </a:r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2,18,87,857.00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9199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Construction payments – from CF projection                            (projected payments based on approved budgeted cash flow or Business Plan </a:t>
                      </a: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cashflow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)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 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 smtClean="0">
                          <a:solidFill>
                            <a:schemeClr val="tx1"/>
                          </a:solidFill>
                          <a:latin typeface="+mn-lt"/>
                        </a:rPr>
                        <a:t>INR 28,329,000.00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latin typeface="Arial" panose="020B0604020202020204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900" b="0" i="0" u="none" strike="noStrike" dirty="0" smtClean="0">
                        <a:solidFill>
                          <a:schemeClr val="tx1"/>
                        </a:solidFill>
                        <a:latin typeface="Times New Roman" panose="02020603050405020304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 dirty="0" smtClean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 </a:t>
                      </a:r>
                      <a:r>
                        <a:rPr lang="en-US" sz="900" b="0" i="0" u="none" strike="noStrike" dirty="0" smtClean="0">
                          <a:solidFill>
                            <a:schemeClr val="tx1"/>
                          </a:solidFill>
                          <a:latin typeface="+mn-lt"/>
                        </a:rPr>
                        <a:t>INR 38,306,000.00</a:t>
                      </a:r>
                      <a:endParaRPr lang="en-US" sz="900" b="0" i="0" u="none" strike="noStrike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algn="ctr" rtl="0" fontAlgn="ctr"/>
                      <a:endParaRPr lang="en-US" sz="900" b="0" i="0" u="none" strike="noStrike" dirty="0">
                        <a:solidFill>
                          <a:schemeClr val="tx1"/>
                        </a:solidFill>
                        <a:latin typeface="Arial" panose="020B0604020202020204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900" b="0" i="0" u="none" strike="noStrike" dirty="0" smtClean="0">
                        <a:solidFill>
                          <a:schemeClr val="tx1"/>
                        </a:solidFill>
                        <a:latin typeface="Times New Roman" panose="02020603050405020304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 dirty="0" smtClean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 </a:t>
                      </a:r>
                      <a:r>
                        <a:rPr lang="en-US" sz="900" b="0" i="0" u="none" strike="noStrike" dirty="0" smtClean="0">
                          <a:solidFill>
                            <a:schemeClr val="tx1"/>
                          </a:solidFill>
                          <a:latin typeface="+mn-lt"/>
                        </a:rPr>
                        <a:t>INR 2,95,46,000.00</a:t>
                      </a:r>
                      <a:endParaRPr lang="en-US" sz="900" b="0" i="0" u="none" strike="noStrike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algn="ctr" rtl="0" fontAlgn="ctr"/>
                      <a:endParaRPr lang="en-US" sz="900" b="0" i="0" u="none" strike="noStrike" dirty="0">
                        <a:solidFill>
                          <a:schemeClr val="tx1"/>
                        </a:solidFill>
                        <a:latin typeface="Arial" panose="020B0604020202020204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7701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Variance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 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INR </a:t>
                      </a:r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80,429.00</a:t>
                      </a:r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 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INR </a:t>
                      </a:r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82,31,664.00</a:t>
                      </a:r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 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smtClean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INR 76,58,143.00 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3"/>
          </a:xfrm>
        </p:spPr>
        <p:txBody>
          <a:bodyPr vert="horz" wrap="square" lIns="91440" tIns="45720" rIns="91440" bIns="45720" anchor="ctr" anchorCtr="0"/>
          <a:p>
            <a:r>
              <a:rPr sz="1600" dirty="0"/>
              <a:t>COST PLAN</a:t>
            </a:r>
            <a:endParaRPr sz="16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81000" y="609600"/>
          <a:ext cx="8229600" cy="6096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62000"/>
                <a:gridCol w="914400"/>
                <a:gridCol w="3200400"/>
                <a:gridCol w="1706880"/>
                <a:gridCol w="1645920"/>
              </a:tblGrid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latin typeface="Calibri" panose="020F0502020204030204" pitchFamily="34" charset="0"/>
                        </a:rPr>
                        <a:t> AC </a:t>
                      </a:r>
                      <a:endParaRPr lang="en-US" sz="1100" u="none" strike="noStrike" dirty="0" smtClean="0">
                        <a:latin typeface="Calibri" panose="020F0502020204030204" pitchFamily="34" charset="0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100" u="none" strike="noStrike" dirty="0" smtClean="0">
                          <a:latin typeface="Calibri" panose="020F0502020204030204" pitchFamily="34" charset="0"/>
                        </a:rPr>
                        <a:t> CODE </a:t>
                      </a:r>
                      <a:endParaRPr lang="en-US" sz="1100" u="none" strike="noStrike" dirty="0" smtClean="0">
                        <a:latin typeface="Calibri" panose="020F0502020204030204" pitchFamily="34" charset="0"/>
                      </a:endParaRPr>
                    </a:p>
                    <a:p>
                      <a:pPr algn="ctr" fontAlgn="ctr"/>
                      <a:endParaRPr lang="en-US" sz="11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latin typeface="Calibri" panose="020F0502020204030204" pitchFamily="34" charset="0"/>
                        </a:rPr>
                        <a:t> Package Number </a:t>
                      </a:r>
                      <a:endParaRPr lang="en-US" sz="11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latin typeface="Calibri" panose="020F0502020204030204" pitchFamily="34" charset="0"/>
                        </a:rPr>
                        <a:t> Package Description </a:t>
                      </a:r>
                      <a:endParaRPr lang="en-US" sz="11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latin typeface="Calibri" panose="020F0502020204030204" pitchFamily="34" charset="0"/>
                        </a:rPr>
                        <a:t> Phase 1 Budget </a:t>
                      </a:r>
                      <a:endParaRPr lang="en-US" sz="11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latin typeface="Calibri" panose="020F0502020204030204" pitchFamily="34" charset="0"/>
                        </a:rPr>
                        <a:t> Based on Contract Awarded As on Date  </a:t>
                      </a:r>
                      <a:endParaRPr lang="en-US" sz="11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A </a:t>
                      </a:r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A </a:t>
                      </a:r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 smtClean="0">
                          <a:latin typeface="Calibri" panose="020F0502020204030204" pitchFamily="34" charset="0"/>
                        </a:rPr>
                        <a:t> CONSTRUCTION </a:t>
                      </a:r>
                      <a:r>
                        <a:rPr lang="en-US" sz="900" b="1" u="none" strike="noStrike" dirty="0">
                          <a:latin typeface="Calibri" panose="020F0502020204030204" pitchFamily="34" charset="0"/>
                        </a:rPr>
                        <a:t>EXPENSES </a:t>
                      </a:r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 </a:t>
                      </a:r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latin typeface="Calibri" panose="020F0502020204030204" pitchFamily="34" charset="0"/>
                        </a:rPr>
                        <a:t> </a:t>
                      </a:r>
                      <a:endParaRPr lang="en-US" sz="10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6973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 </a:t>
                      </a:r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 </a:t>
                      </a:r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 smtClean="0"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900" b="1" u="none" strike="noStrike" dirty="0" smtClean="0">
                          <a:latin typeface="Calibri" panose="020F0502020204030204" pitchFamily="34" charset="0"/>
                        </a:rPr>
                        <a:t>Pre </a:t>
                      </a:r>
                      <a:r>
                        <a:rPr lang="en-US" sz="900" b="1" u="none" strike="noStrike" dirty="0">
                          <a:latin typeface="Calibri" panose="020F0502020204030204" pitchFamily="34" charset="0"/>
                        </a:rPr>
                        <a:t>Construction Cost </a:t>
                      </a:r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latin typeface="Calibri" panose="020F0502020204030204" pitchFamily="34" charset="0"/>
                        </a:rPr>
                        <a:t> </a:t>
                      </a:r>
                      <a:endParaRPr lang="en-US" sz="900" b="1" i="0" u="none" strike="noStrike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latin typeface="Calibri" panose="020F0502020204030204" pitchFamily="34" charset="0"/>
                        </a:rPr>
                        <a:t> </a:t>
                      </a:r>
                      <a:endParaRPr lang="en-US" sz="10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2112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 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01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u="none" strike="noStrike" dirty="0" smtClean="0">
                          <a:latin typeface="Calibri" panose="020F0502020204030204" pitchFamily="34" charset="0"/>
                        </a:rPr>
                        <a:t> Package </a:t>
                      </a:r>
                      <a:r>
                        <a:rPr lang="en-US" sz="900" b="0" u="none" strike="noStrike" dirty="0">
                          <a:latin typeface="Calibri" panose="020F0502020204030204" pitchFamily="34" charset="0"/>
                        </a:rPr>
                        <a:t>01 Soil Testing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              350,000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latin typeface="Calibri" panose="020F0502020204030204" pitchFamily="34" charset="0"/>
                        </a:rPr>
                        <a:t>            350,000 </a:t>
                      </a:r>
                      <a:endParaRPr lang="en-US" sz="900" b="0" i="0" u="none" strike="noStrike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2213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 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02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u="none" strike="noStrike" dirty="0" smtClean="0">
                          <a:latin typeface="Calibri" panose="020F0502020204030204" pitchFamily="34" charset="0"/>
                        </a:rPr>
                        <a:t> Package </a:t>
                      </a:r>
                      <a:r>
                        <a:rPr lang="en-US" sz="900" b="0" u="none" strike="noStrike" dirty="0">
                          <a:latin typeface="Calibri" panose="020F0502020204030204" pitchFamily="34" charset="0"/>
                        </a:rPr>
                        <a:t>02 Bush Clearance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              450,000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           450,000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228154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 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03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u="none" strike="noStrike" dirty="0" smtClean="0">
                          <a:latin typeface="Calibri" panose="020F0502020204030204" pitchFamily="34" charset="0"/>
                        </a:rPr>
                        <a:t> Package </a:t>
                      </a:r>
                      <a:r>
                        <a:rPr lang="en-US" sz="900" b="0" u="none" strike="noStrike" dirty="0">
                          <a:latin typeface="Calibri" panose="020F0502020204030204" pitchFamily="34" charset="0"/>
                        </a:rPr>
                        <a:t>03 Site Survey &amp; Others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              250,000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latin typeface="Calibri" panose="020F0502020204030204" pitchFamily="34" charset="0"/>
                        </a:rPr>
                        <a:t>            250,000 </a:t>
                      </a:r>
                      <a:endParaRPr lang="en-US" sz="900" b="0" i="0" u="none" strike="noStrike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 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04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u="none" strike="noStrike" dirty="0" smtClean="0">
                          <a:latin typeface="Calibri" panose="020F0502020204030204" pitchFamily="34" charset="0"/>
                        </a:rPr>
                        <a:t> Package </a:t>
                      </a:r>
                      <a:r>
                        <a:rPr lang="en-US" sz="900" b="0" u="none" strike="noStrike" dirty="0">
                          <a:latin typeface="Calibri" panose="020F0502020204030204" pitchFamily="34" charset="0"/>
                        </a:rPr>
                        <a:t>04 Temporary Utilities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latin typeface="Calibri" panose="020F0502020204030204" pitchFamily="34" charset="0"/>
                        </a:rPr>
                        <a:t>               100,000 </a:t>
                      </a:r>
                      <a:endParaRPr lang="en-US" sz="900" b="0" i="0" u="none" strike="noStrike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           100,000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 </a:t>
                      </a:r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05 </a:t>
                      </a:r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 smtClean="0">
                          <a:latin typeface="Calibri" panose="020F0502020204030204" pitchFamily="34" charset="0"/>
                        </a:rPr>
                        <a:t> Infrastructure </a:t>
                      </a:r>
                      <a:r>
                        <a:rPr lang="en-US" sz="900" b="1" u="none" strike="noStrike" dirty="0">
                          <a:latin typeface="Calibri" panose="020F0502020204030204" pitchFamily="34" charset="0"/>
                        </a:rPr>
                        <a:t>Works </a:t>
                      </a:r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         64,695,456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      64,577,043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267137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 </a:t>
                      </a:r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 smtClean="0"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Road, Pavement, </a:t>
                      </a:r>
                      <a:r>
                        <a:rPr lang="en-US" sz="900" u="none" strike="noStrike" dirty="0" smtClean="0">
                          <a:latin typeface="Calibri" panose="020F0502020204030204" pitchFamily="34" charset="0"/>
                        </a:rPr>
                        <a:t>Storm water </a:t>
                      </a:r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Drain &amp; External </a:t>
                      </a:r>
                      <a:r>
                        <a:rPr lang="en-US" sz="900" u="none" strike="noStrike" dirty="0" smtClean="0">
                          <a:latin typeface="Calibri" panose="020F0502020204030204" pitchFamily="34" charset="0"/>
                        </a:rPr>
                        <a:t> Sewer</a:t>
                      </a:r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)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 </a:t>
                      </a:r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 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259080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06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 smtClean="0">
                          <a:latin typeface="Calibri" panose="020F0502020204030204" pitchFamily="34" charset="0"/>
                        </a:rPr>
                        <a:t> Boundary </a:t>
                      </a:r>
                      <a:r>
                        <a:rPr lang="en-US" sz="900" b="1" u="none" strike="noStrike" dirty="0">
                          <a:latin typeface="Calibri" panose="020F0502020204030204" pitchFamily="34" charset="0"/>
                        </a:rPr>
                        <a:t>Wall Works </a:t>
                      </a:r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         16,352,386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      16,003,034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07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 smtClean="0">
                          <a:latin typeface="Calibri" panose="020F0502020204030204" pitchFamily="34" charset="0"/>
                        </a:rPr>
                        <a:t> Entry </a:t>
                      </a:r>
                      <a:r>
                        <a:rPr lang="en-US" sz="900" b="1" u="none" strike="noStrike" dirty="0">
                          <a:latin typeface="Calibri" panose="020F0502020204030204" pitchFamily="34" charset="0"/>
                        </a:rPr>
                        <a:t>&amp; Allied Works </a:t>
                      </a:r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latin typeface="Calibri" panose="020F0502020204030204" pitchFamily="34" charset="0"/>
                        </a:rPr>
                        <a:t>            5,508,341 </a:t>
                      </a:r>
                      <a:endParaRPr lang="en-US" sz="900" b="0" i="0" u="none" strike="noStrike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        5,281,655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08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 smtClean="0">
                          <a:latin typeface="Calibri" panose="020F0502020204030204" pitchFamily="34" charset="0"/>
                        </a:rPr>
                        <a:t> MWC </a:t>
                      </a:r>
                      <a:r>
                        <a:rPr lang="en-US" sz="900" b="1" u="none" strike="noStrike" dirty="0">
                          <a:latin typeface="Calibri" panose="020F0502020204030204" pitchFamily="34" charset="0"/>
                        </a:rPr>
                        <a:t>Related Works </a:t>
                      </a:r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         22,409,252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latin typeface="Calibri" panose="020F0502020204030204" pitchFamily="34" charset="0"/>
                        </a:rPr>
                        <a:t>                        - </a:t>
                      </a:r>
                      <a:endParaRPr lang="en-US" sz="900" b="0" i="0" u="none" strike="noStrike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295149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 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 smtClean="0">
                          <a:latin typeface="Calibri" panose="020F0502020204030204" pitchFamily="34" charset="0"/>
                        </a:rPr>
                        <a:t> (South </a:t>
                      </a:r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&amp; North Roads, Lake Embankment, Drain Cover BY MS Frame &amp; PVC Mesh)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 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 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238251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09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 smtClean="0">
                          <a:latin typeface="Calibri" panose="020F0502020204030204" pitchFamily="34" charset="0"/>
                        </a:rPr>
                        <a:t> Landscape </a:t>
                      </a:r>
                      <a:r>
                        <a:rPr lang="en-US" sz="900" b="1" u="none" strike="noStrike" dirty="0">
                          <a:latin typeface="Calibri" panose="020F0502020204030204" pitchFamily="34" charset="0"/>
                        </a:rPr>
                        <a:t>&amp; </a:t>
                      </a:r>
                      <a:r>
                        <a:rPr lang="en-US" sz="900" b="1" u="none" strike="noStrike" dirty="0" err="1">
                          <a:latin typeface="Calibri" panose="020F0502020204030204" pitchFamily="34" charset="0"/>
                        </a:rPr>
                        <a:t>Hardscape</a:t>
                      </a:r>
                      <a:r>
                        <a:rPr lang="en-US" sz="900" b="1" u="none" strike="noStrike" dirty="0">
                          <a:latin typeface="Calibri" panose="020F0502020204030204" pitchFamily="34" charset="0"/>
                        </a:rPr>
                        <a:t> Works </a:t>
                      </a:r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         79,127,851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                       -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295149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10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 smtClean="0">
                          <a:latin typeface="Calibri" panose="020F0502020204030204" pitchFamily="34" charset="0"/>
                        </a:rPr>
                        <a:t> Club </a:t>
                      </a:r>
                      <a:r>
                        <a:rPr lang="en-US" sz="900" b="1" u="none" strike="noStrike" dirty="0">
                          <a:latin typeface="Calibri" panose="020F0502020204030204" pitchFamily="34" charset="0"/>
                        </a:rPr>
                        <a:t>House / Maintenance Office Interiors, </a:t>
                      </a:r>
                      <a:r>
                        <a:rPr lang="en-US" sz="900" b="1" u="none" strike="noStrike" dirty="0" err="1">
                          <a:latin typeface="Calibri" panose="020F0502020204030204" pitchFamily="34" charset="0"/>
                        </a:rPr>
                        <a:t>S.Pool</a:t>
                      </a:r>
                      <a:r>
                        <a:rPr lang="en-US" sz="900" b="1" u="none" strike="noStrike" dirty="0">
                          <a:latin typeface="Calibri" panose="020F0502020204030204" pitchFamily="34" charset="0"/>
                        </a:rPr>
                        <a:t> Works  </a:t>
                      </a:r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         41,837,185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                       -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238251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11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 smtClean="0">
                          <a:latin typeface="Calibri" panose="020F0502020204030204" pitchFamily="34" charset="0"/>
                        </a:rPr>
                        <a:t> Procurement </a:t>
                      </a:r>
                      <a:r>
                        <a:rPr lang="en-US" sz="900" b="1" u="none" strike="noStrike" dirty="0">
                          <a:latin typeface="Calibri" panose="020F0502020204030204" pitchFamily="34" charset="0"/>
                        </a:rPr>
                        <a:t>Package (Elevator System Only ) </a:t>
                      </a:r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                         -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                       -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243468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12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 smtClean="0">
                          <a:latin typeface="Calibri" panose="020F0502020204030204" pitchFamily="34" charset="0"/>
                        </a:rPr>
                        <a:t> Civil </a:t>
                      </a:r>
                      <a:r>
                        <a:rPr lang="en-US" sz="900" b="1" u="none" strike="noStrike" dirty="0">
                          <a:latin typeface="Calibri" panose="020F0502020204030204" pitchFamily="34" charset="0"/>
                        </a:rPr>
                        <a:t>&amp; Structural works (Including Employer Supplied Items) </a:t>
                      </a:r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       670,694,777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    665,158,833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295149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13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 smtClean="0">
                          <a:latin typeface="Calibri" panose="020F0502020204030204" pitchFamily="34" charset="0"/>
                        </a:rPr>
                        <a:t> Plumbing </a:t>
                      </a:r>
                      <a:r>
                        <a:rPr lang="en-US" sz="900" b="1" u="none" strike="noStrike" dirty="0">
                          <a:latin typeface="Calibri" panose="020F0502020204030204" pitchFamily="34" charset="0"/>
                        </a:rPr>
                        <a:t>Works - Internal &amp; External (Including Employer Supplied Items) </a:t>
                      </a:r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         75,415,575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latin typeface="Calibri" panose="020F0502020204030204" pitchFamily="34" charset="0"/>
                        </a:rPr>
                        <a:t>       75,138,793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191004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atin typeface="Calibri" panose="020F0502020204030204" pitchFamily="34" charset="0"/>
                        </a:rPr>
                        <a:t> 14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latin typeface="Calibri" panose="020F0502020204030204" pitchFamily="34" charset="0"/>
                        </a:rPr>
                        <a:t> Electrical Works - Internal &amp; External </a:t>
                      </a:r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atin typeface="Calibri" panose="020F0502020204030204" pitchFamily="34" charset="0"/>
                        </a:rPr>
                        <a:t>          63,148,980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atin typeface="Calibri" panose="020F0502020204030204" pitchFamily="34" charset="0"/>
                        </a:rPr>
                        <a:t>       61,200,923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199647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latin typeface="Calibri" panose="020F0502020204030204" pitchFamily="34" charset="0"/>
                        </a:rPr>
                        <a:t> 15 </a:t>
                      </a:r>
                      <a:endParaRPr lang="en-US" sz="900" b="0" i="0" u="none" strike="noStrike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latin typeface="Calibri" panose="020F0502020204030204" pitchFamily="34" charset="0"/>
                        </a:rPr>
                        <a:t> Security system, Communication system </a:t>
                      </a:r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atin typeface="Calibri" panose="020F0502020204030204" pitchFamily="34" charset="0"/>
                        </a:rPr>
                        <a:t>          12,128,130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atin typeface="Calibri" panose="020F0502020204030204" pitchFamily="34" charset="0"/>
                        </a:rPr>
                        <a:t>                        -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latin typeface="Calibri" panose="020F0502020204030204" pitchFamily="34" charset="0"/>
                        </a:rPr>
                        <a:t> 16 </a:t>
                      </a:r>
                      <a:endParaRPr lang="en-US" sz="900" b="0" i="0" u="none" strike="noStrike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latin typeface="Calibri" panose="020F0502020204030204" pitchFamily="34" charset="0"/>
                        </a:rPr>
                        <a:t> Generator System </a:t>
                      </a:r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atin typeface="Calibri" panose="020F0502020204030204" pitchFamily="34" charset="0"/>
                        </a:rPr>
                        <a:t>            8,694,000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atin typeface="Calibri" panose="020F0502020204030204" pitchFamily="34" charset="0"/>
                        </a:rPr>
                        <a:t>                        -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latin typeface="Calibri" panose="020F0502020204030204" pitchFamily="34" charset="0"/>
                        </a:rPr>
                        <a:t> 17 </a:t>
                      </a:r>
                      <a:endParaRPr lang="en-US" sz="900" b="0" i="0" u="none" strike="noStrike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latin typeface="Calibri" panose="020F0502020204030204" pitchFamily="34" charset="0"/>
                        </a:rPr>
                        <a:t> Fire Protection Works </a:t>
                      </a:r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atin typeface="Calibri" panose="020F0502020204030204" pitchFamily="34" charset="0"/>
                        </a:rPr>
                        <a:t>                          -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atin typeface="Calibri" panose="020F0502020204030204" pitchFamily="34" charset="0"/>
                        </a:rPr>
                        <a:t>                        -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latin typeface="Calibri" panose="020F0502020204030204" pitchFamily="34" charset="0"/>
                        </a:rPr>
                        <a:t> 18 </a:t>
                      </a:r>
                      <a:endParaRPr lang="en-US" sz="900" b="0" i="0" u="none" strike="noStrike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900" b="1" i="0" u="none" strike="noStrike" dirty="0" smtClean="0">
                          <a:latin typeface="Calibri" panose="020F0502020204030204" pitchFamily="34" charset="0"/>
                        </a:rPr>
                        <a:t>Miscellaneous </a:t>
                      </a:r>
                      <a:r>
                        <a:rPr lang="en-US" sz="900" b="1" i="0" u="none" strike="noStrike" dirty="0">
                          <a:latin typeface="Calibri" panose="020F0502020204030204" pitchFamily="34" charset="0"/>
                        </a:rPr>
                        <a:t>works  </a:t>
                      </a:r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atin typeface="Calibri" panose="020F0502020204030204" pitchFamily="34" charset="0"/>
                        </a:rPr>
                        <a:t>                          -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atin typeface="Calibri" panose="020F0502020204030204" pitchFamily="34" charset="0"/>
                        </a:rPr>
                        <a:t>                        - </a:t>
                      </a:r>
                      <a:endParaRPr lang="en-US" sz="900" b="0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smtClean="0">
                          <a:latin typeface="Calibri" panose="020F0502020204030204"/>
                        </a:rPr>
                        <a:t>19</a:t>
                      </a:r>
                      <a:endParaRPr lang="en-US" sz="900" b="0" i="0" u="none" strike="noStrike" dirty="0"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latin typeface="Calibri" panose="020F0502020204030204"/>
                        </a:rPr>
                        <a:t> SEZ Benefits Cost </a:t>
                      </a:r>
                      <a:endParaRPr lang="en-US" sz="900" b="1" i="0" u="none" strike="noStrike" dirty="0">
                        <a:latin typeface="Calibri" panose="020F050202020403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atin typeface="Calibri" panose="020F0502020204030204"/>
                        </a:rPr>
                        <a:t>        (50,475,304)</a:t>
                      </a:r>
                      <a:endParaRPr lang="en-US" sz="900" b="0" i="0" u="none" strike="noStrike" dirty="0">
                        <a:latin typeface="Calibri" panose="020F050202020403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atin typeface="Calibri" panose="020F0502020204030204"/>
                        </a:rPr>
                        <a:t>     (38,864,131)</a:t>
                      </a:r>
                      <a:endParaRPr lang="en-US" sz="900" b="0" i="0" u="none" strike="noStrike" dirty="0">
                        <a:latin typeface="Calibri" panose="020F0502020204030204"/>
                      </a:endParaRPr>
                    </a:p>
                  </a:txBody>
                  <a:tcPr marL="0" marR="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latin typeface="Calibri" panose="020F0502020204030204"/>
                        </a:rPr>
                        <a:t> Total A : Construction Expenses </a:t>
                      </a:r>
                      <a:endParaRPr lang="en-US" sz="900" b="1" i="0" u="none" strike="noStrike" dirty="0">
                        <a:latin typeface="Calibri" panose="020F050202020403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latin typeface="Calibri" panose="020F0502020204030204"/>
                        </a:rPr>
                        <a:t>     1,010,686,629 </a:t>
                      </a:r>
                      <a:endParaRPr lang="en-US" sz="900" b="1" i="0" u="none" strike="noStrike">
                        <a:latin typeface="Calibri" panose="020F050202020403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latin typeface="Calibri" panose="020F0502020204030204"/>
                        </a:rPr>
                        <a:t>     849,646,151 </a:t>
                      </a:r>
                      <a:endParaRPr lang="en-US" sz="900" b="1" i="0" u="none" strike="noStrike" dirty="0">
                        <a:latin typeface="Calibri" panose="020F0502020204030204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ja-JP" b="1" dirty="0">
                <a:ea typeface="MS PGothic" panose="020B0600070205080204" charset="-128"/>
              </a:rPr>
              <a:t>Construction Progress</a:t>
            </a:r>
            <a:r>
              <a:rPr lang="en-US" altLang="ja-JP" dirty="0">
                <a:ea typeface="MS PGothic" panose="020B0600070205080204" charset="-128"/>
              </a:rPr>
              <a:t> 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4800" y="1371600"/>
          <a:ext cx="8382000" cy="4586288"/>
        </p:xfrm>
        <a:graphic>
          <a:graphicData uri="http://schemas.openxmlformats.org/drawingml/2006/table">
            <a:tbl>
              <a:tblPr/>
              <a:tblGrid>
                <a:gridCol w="990600"/>
                <a:gridCol w="1578163"/>
                <a:gridCol w="1088837"/>
                <a:gridCol w="1219200"/>
                <a:gridCol w="1066800"/>
                <a:gridCol w="990600"/>
                <a:gridCol w="1447800"/>
              </a:tblGrid>
              <a:tr h="685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Milestones as per schedule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Description of work 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Number of Days to Target Completion as of </a:t>
                      </a:r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05.05.10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Original Target Completion Date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Estimated Completion Date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Number of Days Ahead/(Delayed)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REMARKS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8">
                <a:tc gridSpan="7"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Civil Works - Phase 1A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57906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latin typeface="Arial" panose="020B0604020202020204"/>
                        </a:rPr>
                        <a:t>Milestone </a:t>
                      </a:r>
                      <a:r>
                        <a:rPr lang="en-US" sz="1100" b="0" i="0" u="none" strike="noStrike" dirty="0" smtClean="0">
                          <a:latin typeface="Arial" panose="020B0604020202020204"/>
                        </a:rPr>
                        <a:t>– </a:t>
                      </a:r>
                      <a:r>
                        <a:rPr lang="en-US" sz="1100" b="0" i="0" u="none" strike="noStrike" dirty="0">
                          <a:latin typeface="Arial" panose="020B0604020202020204"/>
                        </a:rPr>
                        <a:t>2</a:t>
                      </a:r>
                      <a:endParaRPr lang="en-US" sz="1100" b="0" i="0" u="none" strike="noStrike" dirty="0"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Upto Ground Floor Roof Slab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118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 smtClean="0">
                          <a:solidFill>
                            <a:schemeClr val="tx1"/>
                          </a:solidFill>
                          <a:latin typeface="Arial" panose="020B0604020202020204"/>
                        </a:rPr>
                        <a:t>31-Aug-10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 smtClean="0">
                          <a:solidFill>
                            <a:srgbClr val="FF0000"/>
                          </a:solidFill>
                          <a:latin typeface="Arial" panose="020B0604020202020204"/>
                        </a:rPr>
                        <a:t>30-Sep-10</a:t>
                      </a:r>
                      <a:endParaRPr lang="en-US" sz="1050" b="0" i="0" u="none" strike="noStrike" dirty="0">
                        <a:solidFill>
                          <a:srgbClr val="FF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 smtClean="0">
                          <a:solidFill>
                            <a:srgbClr val="FF0000"/>
                          </a:solidFill>
                          <a:latin typeface="Arial" panose="020B0604020202020204"/>
                        </a:rPr>
                        <a:t>30</a:t>
                      </a:r>
                      <a:endParaRPr lang="en-US" sz="1050" b="0" i="0" u="none" strike="noStrike" dirty="0">
                        <a:solidFill>
                          <a:srgbClr val="FF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Inadequate Manpower and insufficient</a:t>
                      </a:r>
                      <a:r>
                        <a:rPr lang="en-US" sz="1050" b="0" i="0" u="none" strike="noStrike" baseline="0" dirty="0" smtClean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 slab shuttering Material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 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99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latin typeface="Arial" panose="020B0604020202020204"/>
                        </a:rPr>
                        <a:t>Milestone </a:t>
                      </a:r>
                      <a:r>
                        <a:rPr lang="en-US" sz="1100" b="0" i="0" u="none" strike="noStrike" dirty="0" smtClean="0">
                          <a:latin typeface="Arial" panose="020B0604020202020204"/>
                        </a:rPr>
                        <a:t>– </a:t>
                      </a:r>
                      <a:r>
                        <a:rPr lang="en-US" sz="1100" b="0" i="0" u="none" strike="noStrike" dirty="0">
                          <a:latin typeface="Arial" panose="020B0604020202020204"/>
                        </a:rPr>
                        <a:t>3</a:t>
                      </a:r>
                      <a:endParaRPr lang="en-US" sz="1100" b="0" i="0" u="none" strike="noStrike" dirty="0"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Upto First Floor Roof Slab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148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latin typeface="Arial" panose="020B0604020202020204"/>
                        </a:rPr>
                        <a:t>30-Sep-10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 smtClean="0">
                          <a:solidFill>
                            <a:srgbClr val="FF0000"/>
                          </a:solidFill>
                          <a:latin typeface="Arial" panose="020B0604020202020204"/>
                        </a:rPr>
                        <a:t>25-Oct-10</a:t>
                      </a:r>
                      <a:endParaRPr lang="en-US" sz="1050" b="0" i="0" u="none" strike="noStrike" dirty="0">
                        <a:solidFill>
                          <a:srgbClr val="FF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 smtClean="0">
                          <a:solidFill>
                            <a:srgbClr val="FF0000"/>
                          </a:solidFill>
                          <a:latin typeface="Arial" panose="020B0604020202020204"/>
                        </a:rPr>
                        <a:t>25</a:t>
                      </a:r>
                      <a:endParaRPr lang="en-US" sz="1050" b="0" i="0" u="none" strike="noStrike" dirty="0">
                        <a:solidFill>
                          <a:srgbClr val="FF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 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9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latin typeface="Arial" panose="020B0604020202020204"/>
                        </a:rPr>
                        <a:t>Milestone </a:t>
                      </a:r>
                      <a:r>
                        <a:rPr lang="en-US" sz="1100" b="0" i="0" u="none" strike="noStrike" dirty="0" smtClean="0">
                          <a:latin typeface="Arial" panose="020B0604020202020204"/>
                        </a:rPr>
                        <a:t>– </a:t>
                      </a:r>
                      <a:r>
                        <a:rPr lang="en-US" sz="1100" b="0" i="0" u="none" strike="noStrike" dirty="0">
                          <a:latin typeface="Arial" panose="020B0604020202020204"/>
                        </a:rPr>
                        <a:t>4</a:t>
                      </a:r>
                      <a:endParaRPr lang="en-US" sz="1100" b="0" i="0" u="none" strike="noStrike" dirty="0"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Completion of Head Room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179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latin typeface="Arial" panose="020B0604020202020204"/>
                        </a:rPr>
                        <a:t>31-Oct-10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latin typeface="Arial" panose="020B0604020202020204"/>
                        </a:rPr>
                        <a:t>31-Oct-10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0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 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0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latin typeface="Arial" panose="020B0604020202020204"/>
                        </a:rPr>
                        <a:t>Milestone </a:t>
                      </a:r>
                      <a:r>
                        <a:rPr lang="en-US" sz="1100" b="0" i="0" u="none" strike="noStrike" dirty="0" smtClean="0">
                          <a:latin typeface="Arial" panose="020B0604020202020204"/>
                        </a:rPr>
                        <a:t>– </a:t>
                      </a:r>
                      <a:r>
                        <a:rPr lang="en-US" sz="1100" b="0" i="0" u="none" strike="noStrike" dirty="0">
                          <a:latin typeface="Arial" panose="020B0604020202020204"/>
                        </a:rPr>
                        <a:t>5</a:t>
                      </a:r>
                      <a:endParaRPr lang="en-US" sz="1100" b="0" i="0" u="none" strike="noStrike" dirty="0"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Masonry, plastering, tile finishes  &amp; Joineries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330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latin typeface="Arial" panose="020B0604020202020204"/>
                        </a:rPr>
                        <a:t>31-Mar-11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 smtClean="0">
                          <a:solidFill>
                            <a:schemeClr val="tx1"/>
                          </a:solidFill>
                          <a:latin typeface="Arial" panose="020B0604020202020204"/>
                        </a:rPr>
                        <a:t>15-April-11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0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 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732">
                <a:tc gridSpan="7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800" b="0" i="0" u="none" strike="noStrike" kern="1200" dirty="0" smtClean="0">
                          <a:solidFill>
                            <a:srgbClr val="000000"/>
                          </a:solidFill>
                          <a:latin typeface="Arial" panose="020B0604020202020204"/>
                          <a:ea typeface="+mn-ea"/>
                          <a:cs typeface="+mn-cs"/>
                        </a:rPr>
                        <a:t>Infra Works</a:t>
                      </a:r>
                      <a:endParaRPr lang="en-US" sz="1800" b="0" i="0" u="none" strike="noStrike" kern="1200" dirty="0">
                        <a:solidFill>
                          <a:srgbClr val="000000"/>
                        </a:solidFill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3399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latin typeface="Arial" panose="020B0604020202020204"/>
                        </a:rPr>
                        <a:t> </a:t>
                      </a:r>
                      <a:endParaRPr lang="en-US" sz="1100" b="0" i="0" u="none" strike="noStrike" dirty="0">
                        <a:latin typeface="Arial" panose="020B0604020202020204"/>
                      </a:endParaRPr>
                    </a:p>
                  </a:txBody>
                  <a:tcPr marL="8223" marR="8223" marT="82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Infra works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235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25-Dec-10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latin typeface="Arial" panose="020B0604020202020204"/>
                        </a:rPr>
                        <a:t>25-Dec-10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0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 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8278">
                <a:tc gridSpan="7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800" b="0" i="0" u="none" strike="noStrike" kern="1200" dirty="0" smtClean="0">
                          <a:solidFill>
                            <a:srgbClr val="000000"/>
                          </a:solidFill>
                          <a:latin typeface="Arial" panose="020B0604020202020204"/>
                          <a:ea typeface="+mn-ea"/>
                          <a:cs typeface="+mn-cs"/>
                        </a:rPr>
                        <a:t>Civil Works – Phase 1B</a:t>
                      </a:r>
                      <a:endParaRPr lang="en-US" sz="1800" b="0" i="0" u="none" strike="noStrike" kern="1200" dirty="0" smtClean="0">
                        <a:solidFill>
                          <a:srgbClr val="000000"/>
                        </a:solidFill>
                        <a:latin typeface="Arial" panose="020B0604020202020204"/>
                        <a:ea typeface="+mn-ea"/>
                        <a:cs typeface="+mn-cs"/>
                      </a:endParaRPr>
                    </a:p>
                    <a:p>
                      <a:pPr algn="l" fontAlgn="b"/>
                      <a:endParaRPr lang="en-US" sz="1100" b="0" i="0" u="none" strike="noStrike" dirty="0">
                        <a:latin typeface="Arial" panose="020B0604020202020204"/>
                      </a:endParaRPr>
                    </a:p>
                  </a:txBody>
                  <a:tcPr marL="8223" marR="8223" marT="82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33991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100" b="0" i="0" u="none" strike="noStrike" kern="1200" dirty="0" smtClean="0">
                          <a:solidFill>
                            <a:schemeClr val="tx1"/>
                          </a:solidFill>
                          <a:latin typeface="Arial" panose="020B0604020202020204"/>
                          <a:ea typeface="+mn-ea"/>
                          <a:cs typeface="+mn-cs"/>
                        </a:rPr>
                        <a:t>Milestone – 1</a:t>
                      </a:r>
                      <a:endParaRPr lang="en-US" sz="1100" b="0" i="0" u="none" strike="noStrike" kern="1200" dirty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8223" marR="8223" marT="82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Piling</a:t>
                      </a:r>
                      <a:r>
                        <a:rPr lang="en-US" sz="1050" b="0" i="0" u="none" strike="noStrike" baseline="0" dirty="0" smtClean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 and plinth Completion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87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050" b="0" i="0" u="none" strike="noStrike" dirty="0" smtClean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  <a:p>
                      <a:pPr algn="ctr" rtl="0" fontAlgn="ctr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31-Jul-10</a:t>
                      </a:r>
                      <a:endParaRPr lang="en-US" sz="1050" b="0" i="0" u="none" strike="noStrike" dirty="0" smtClean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  <a:p>
                      <a:pPr algn="ctr" rtl="0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 smtClean="0">
                          <a:solidFill>
                            <a:schemeClr val="tx1"/>
                          </a:solidFill>
                          <a:latin typeface="Arial" panose="020B0604020202020204"/>
                        </a:rPr>
                        <a:t>31</a:t>
                      </a:r>
                      <a:r>
                        <a:rPr lang="en-US" sz="1050" b="0" i="0" u="none" strike="noStrike" baseline="0" dirty="0" smtClean="0">
                          <a:solidFill>
                            <a:schemeClr val="tx1"/>
                          </a:solidFill>
                          <a:latin typeface="Arial" panose="020B0604020202020204"/>
                        </a:rPr>
                        <a:t>- Jul-10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0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8223" marR="8223" marT="82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sz="2400" dirty="0"/>
              <a:t>Boundary wall Progress Tracker as on 30- April 2010</a:t>
            </a:r>
            <a:endParaRPr sz="2400" dirty="0"/>
          </a:p>
        </p:txBody>
      </p:sp>
      <p:pic>
        <p:nvPicPr>
          <p:cNvPr id="10243" name="Content Placeholder 3" descr="Boundary wall - Progress dt 30th April 2010.bmp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228600" y="1676400"/>
            <a:ext cx="3581400" cy="3425825"/>
          </a:xfr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2400" y="1752600"/>
          <a:ext cx="4953000" cy="16257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1113184"/>
                <a:gridCol w="563216"/>
                <a:gridCol w="609600"/>
                <a:gridCol w="990600"/>
                <a:gridCol w="1066798"/>
              </a:tblGrid>
              <a:tr h="669416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S.No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dirty="0" smtClean="0"/>
                        <a:t>Description</a:t>
                      </a:r>
                      <a:r>
                        <a:rPr lang="en-US" sz="1200" baseline="0" dirty="0" smtClean="0"/>
                        <a:t> of works</a:t>
                      </a:r>
                      <a:endParaRPr lang="en-US" sz="1200" dirty="0" smtClean="0"/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UOM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Over</a:t>
                      </a:r>
                      <a:r>
                        <a:rPr lang="en-US" sz="1200" baseline="0" dirty="0" smtClean="0"/>
                        <a:t> all Qty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Completed Qty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%</a:t>
                      </a:r>
                      <a:r>
                        <a:rPr lang="en-US" sz="1200" baseline="0" dirty="0" smtClean="0"/>
                        <a:t> of completion</a:t>
                      </a:r>
                      <a:endParaRPr lang="en-US" sz="1200" dirty="0"/>
                    </a:p>
                  </a:txBody>
                  <a:tcPr/>
                </a:tc>
              </a:tr>
              <a:tr h="15938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PILING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764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764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</a:tr>
              <a:tr h="15938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PLINTH BEAM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2570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2570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</a:tr>
              <a:tr h="15938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SOLID BLOCK WORK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2570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2570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</a:tr>
              <a:tr h="31877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EXTERNAL PLASTERING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2570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2570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</a:tr>
              <a:tr h="15938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GYPCRETE ERECTION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2370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1700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72%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sz="2400" dirty="0"/>
              <a:t>Road Works – Progress Tracker</a:t>
            </a:r>
            <a:endParaRPr sz="2400" dirty="0"/>
          </a:p>
        </p:txBody>
      </p:sp>
      <p:pic>
        <p:nvPicPr>
          <p:cNvPr id="11267" name="Content Placeholder 3" descr="ROAD progress Tracker - DT - 30th April 2010.JPG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304800" y="1600200"/>
            <a:ext cx="5105400" cy="3638550"/>
          </a:xfr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86200" y="5257800"/>
          <a:ext cx="4622800" cy="1285875"/>
        </p:xfrm>
        <a:graphic>
          <a:graphicData uri="http://schemas.openxmlformats.org/drawingml/2006/table">
            <a:tbl>
              <a:tblPr/>
              <a:tblGrid>
                <a:gridCol w="660400"/>
                <a:gridCol w="660400"/>
                <a:gridCol w="660400"/>
                <a:gridCol w="660400"/>
                <a:gridCol w="660400"/>
                <a:gridCol w="660400"/>
                <a:gridCol w="660400"/>
              </a:tblGrid>
              <a:tr h="161925">
                <a:tc gridSpan="7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latin typeface="Calibri" panose="020F0502020204030204"/>
                        </a:rPr>
                        <a:t>ROAD WORKS</a:t>
                      </a:r>
                      <a:endParaRPr lang="en-US" sz="1000" b="0" i="0" u="none" strike="noStrike" dirty="0"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66725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Road Excavation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0" i="0" u="none" strike="noStrike">
                          <a:latin typeface="Calibri" panose="020F0502020204030204"/>
                        </a:rPr>
                        <a:t>Hill earth Filling Layer 1</a:t>
                      </a:r>
                      <a:endParaRPr lang="en-US" sz="1000" b="0" i="0" u="none" strike="noStrike">
                        <a:latin typeface="Calibri" panose="020F050202020403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Hill earth filling Layer 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Hill earth filling Layer 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WBM Layer 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latin typeface="Calibri" panose="020F0502020204030204"/>
                        </a:rPr>
                        <a:t>Total QTY  in Mt</a:t>
                      </a:r>
                      <a:endParaRPr lang="en-US" sz="1000" b="0" i="0" u="none" strike="noStrike"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i="0" u="none" strike="noStrike">
                          <a:latin typeface="Calibri" panose="020F0502020204030204"/>
                        </a:rPr>
                        <a:t>QTY completed</a:t>
                      </a:r>
                      <a:endParaRPr lang="en-US" sz="1000" b="1" i="0" u="none" strike="noStrike">
                        <a:latin typeface="Calibri" panose="020F05020202040302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2682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latin typeface="Calibri" panose="020F0502020204030204"/>
                        </a:rPr>
                        <a:t>2127</a:t>
                      </a:r>
                      <a:endParaRPr lang="en-US" sz="1000" b="0" i="0" u="none" strike="noStrike"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1920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latin typeface="Calibri" panose="020F0502020204030204"/>
                        </a:rPr>
                        <a:t>1575</a:t>
                      </a:r>
                      <a:endParaRPr lang="en-US" sz="1000" b="0" i="0" u="none" strike="noStrike"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latin typeface="Calibri" panose="020F0502020204030204"/>
                        </a:rPr>
                        <a:t>326</a:t>
                      </a:r>
                      <a:endParaRPr lang="en-US" sz="1000" b="0" i="0" u="none" strike="noStrike"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latin typeface="Calibri" panose="020F0502020204030204"/>
                        </a:rPr>
                        <a:t>3083</a:t>
                      </a:r>
                      <a:endParaRPr lang="en-US" sz="1000" b="0" i="0" u="none" strike="noStrike">
                        <a:latin typeface="Calibri" panose="020F050202020403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i="0" u="none" strike="noStrike">
                          <a:latin typeface="Calibri" panose="020F0502020204030204"/>
                        </a:rPr>
                        <a:t>% of completion</a:t>
                      </a:r>
                      <a:endParaRPr lang="en-US" sz="1000" b="1" i="0" u="none" strike="noStrike">
                        <a:latin typeface="Calibri" panose="020F05020202040302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86.99%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68.99%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62.28%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51.09%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10.57%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 v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sz="2400" dirty="0"/>
              <a:t>Sewer line – Progress Tracker</a:t>
            </a:r>
            <a:endParaRPr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67400" y="2133600"/>
          <a:ext cx="2641600" cy="1676400"/>
        </p:xfrm>
        <a:graphic>
          <a:graphicData uri="http://schemas.openxmlformats.org/drawingml/2006/table">
            <a:tbl>
              <a:tblPr/>
              <a:tblGrid>
                <a:gridCol w="660400"/>
                <a:gridCol w="660400"/>
                <a:gridCol w="660400"/>
                <a:gridCol w="660400"/>
              </a:tblGrid>
              <a:tr h="211102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latin typeface="Calibri" panose="020F0502020204030204"/>
                        </a:rPr>
                        <a:t>SEWER LINE </a:t>
                      </a:r>
                      <a:endParaRPr lang="en-US" sz="1000" b="0" i="0" u="none" strike="noStrike" dirty="0"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608471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i="0" u="none" strike="noStrike">
                          <a:latin typeface="Calibri" panose="020F0502020204030204"/>
                        </a:rPr>
                        <a:t>Total Manholes</a:t>
                      </a:r>
                      <a:endParaRPr lang="en-US" sz="1000" b="1" i="0" u="none" strike="noStrike">
                        <a:latin typeface="Calibri" panose="020F050202020403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119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i="0" u="none" strike="noStrike" dirty="0">
                          <a:latin typeface="Calibri" panose="020F0502020204030204"/>
                        </a:rPr>
                        <a:t>Total Qty for Stone ware pipe </a:t>
                      </a:r>
                      <a:endParaRPr lang="en-US" sz="1000" b="1" i="0" u="none" strike="noStrike" dirty="0">
                        <a:latin typeface="Calibri" panose="020F050202020403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2092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</a:tr>
              <a:tr h="422204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i="0" u="none" strike="noStrike">
                          <a:latin typeface="Calibri" panose="020F0502020204030204"/>
                        </a:rPr>
                        <a:t>Completed</a:t>
                      </a:r>
                      <a:endParaRPr lang="en-US" sz="1000" b="1" i="0" u="none" strike="noStrike">
                        <a:latin typeface="Calibri" panose="020F050202020403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110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i="0" u="none" strike="noStrike">
                          <a:latin typeface="Calibri" panose="020F0502020204030204"/>
                        </a:rPr>
                        <a:t>Completed</a:t>
                      </a:r>
                      <a:endParaRPr lang="en-US" sz="1000" b="1" i="0" u="none" strike="noStrike">
                        <a:latin typeface="Calibri" panose="020F050202020403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246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</a:tr>
              <a:tr h="434622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i="0" u="none" strike="noStrike">
                          <a:latin typeface="Calibri" panose="020F0502020204030204"/>
                        </a:rPr>
                        <a:t>% of completion</a:t>
                      </a:r>
                      <a:endParaRPr lang="en-US" sz="1000" b="1" i="0" u="none" strike="noStrike">
                        <a:latin typeface="Calibri" panose="020F050202020403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92.44%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i="0" u="none" strike="noStrike">
                          <a:latin typeface="Calibri" panose="020F0502020204030204"/>
                        </a:rPr>
                        <a:t>% of completion</a:t>
                      </a:r>
                      <a:endParaRPr lang="en-US" sz="1000" b="1" i="0" u="none" strike="noStrike">
                        <a:latin typeface="Calibri" panose="020F050202020403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11.76%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</a:tr>
            </a:tbl>
          </a:graphicData>
        </a:graphic>
      </p:graphicFrame>
      <p:pic>
        <p:nvPicPr>
          <p:cNvPr id="12315" name="Content Placeholder 6" descr="Sewer line progress tracker as on 30th April 2010.bmp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381000" y="1371600"/>
            <a:ext cx="5453063" cy="3886200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sz="2400" dirty="0"/>
              <a:t>Villa – Progress Tracker</a:t>
            </a:r>
            <a:endParaRPr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876800" y="1981200"/>
          <a:ext cx="3962400" cy="2876550"/>
        </p:xfrm>
        <a:graphic>
          <a:graphicData uri="http://schemas.openxmlformats.org/drawingml/2006/table">
            <a:tbl>
              <a:tblPr/>
              <a:tblGrid>
                <a:gridCol w="660400"/>
                <a:gridCol w="660400"/>
                <a:gridCol w="660400"/>
                <a:gridCol w="660400"/>
                <a:gridCol w="660400"/>
                <a:gridCol w="660400"/>
              </a:tblGrid>
              <a:tr h="161925"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latin typeface="Calibri" panose="020F0502020204030204"/>
                        </a:rPr>
                        <a:t>Phase 1A</a:t>
                      </a:r>
                      <a:endParaRPr lang="en-US" sz="1000" b="0" i="0" u="none" strike="noStrike" dirty="0"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33375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i="0" u="none" strike="noStrike">
                          <a:latin typeface="Calibri" panose="020F0502020204030204"/>
                        </a:rPr>
                        <a:t>S.No.</a:t>
                      </a:r>
                      <a:endParaRPr lang="en-US" sz="1000" b="1" i="0" u="none" strike="noStrike">
                        <a:latin typeface="Calibri" panose="020F05020202040302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i="0" u="none" strike="noStrike">
                          <a:latin typeface="Calibri" panose="020F0502020204030204"/>
                        </a:rPr>
                        <a:t>Activity</a:t>
                      </a:r>
                      <a:endParaRPr lang="en-US" sz="1000" b="1" i="0" u="none" strike="noStrike">
                        <a:latin typeface="Calibri" panose="020F05020202040302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i="0" u="none" strike="noStrike">
                          <a:latin typeface="Calibri" panose="020F0502020204030204"/>
                        </a:rPr>
                        <a:t>UOM</a:t>
                      </a:r>
                      <a:endParaRPr lang="en-US" sz="1000" b="1" i="0" u="none" strike="noStrike">
                        <a:latin typeface="Calibri" panose="020F05020202040302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i="0" u="none" strike="noStrike">
                          <a:latin typeface="Calibri" panose="020F0502020204030204"/>
                        </a:rPr>
                        <a:t>Total  Qty.</a:t>
                      </a:r>
                      <a:endParaRPr lang="en-US" sz="1000" b="1" i="0" u="none" strike="noStrike">
                        <a:latin typeface="Calibri" panose="020F05020202040302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i="0" u="none" strike="noStrike">
                          <a:latin typeface="Calibri" panose="020F0502020204030204"/>
                        </a:rPr>
                        <a:t>Completed Qty.</a:t>
                      </a:r>
                      <a:endParaRPr lang="en-US" sz="1000" b="1" i="0" u="none" strike="noStrike">
                        <a:latin typeface="Calibri" panose="020F05020202040302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i="0" u="none" strike="noStrike">
                          <a:latin typeface="Calibri" panose="020F0502020204030204"/>
                        </a:rPr>
                        <a:t>% of completion</a:t>
                      </a:r>
                      <a:endParaRPr lang="en-US" sz="1000" b="1" i="0" u="none" strike="noStrike">
                        <a:latin typeface="Calibri" panose="020F05020202040302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Columns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739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68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9.20%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GF Slab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41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0.00%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latin typeface="Calibri" panose="020F0502020204030204"/>
                        </a:rPr>
                        <a:t> </a:t>
                      </a:r>
                      <a:endParaRPr lang="en-US" sz="1000" b="0" i="0" u="none" strike="noStrike"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latin typeface="Calibri" panose="020F0502020204030204"/>
                        </a:rPr>
                        <a:t>UG SUMP</a:t>
                      </a:r>
                      <a:endParaRPr lang="en-US" sz="1000" b="0" i="0" u="none" strike="noStrike"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33375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i="0" u="none" strike="noStrike">
                          <a:latin typeface="Calibri" panose="020F0502020204030204"/>
                        </a:rPr>
                        <a:t>S.No.</a:t>
                      </a:r>
                      <a:endParaRPr lang="en-US" sz="1000" b="1" i="0" u="none" strike="noStrike">
                        <a:latin typeface="Calibri" panose="020F05020202040302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i="0" u="none" strike="noStrike">
                          <a:latin typeface="Calibri" panose="020F0502020204030204"/>
                        </a:rPr>
                        <a:t>Activity</a:t>
                      </a:r>
                      <a:endParaRPr lang="en-US" sz="1000" b="1" i="0" u="none" strike="noStrike">
                        <a:latin typeface="Calibri" panose="020F05020202040302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i="0" u="none" strike="noStrike">
                          <a:latin typeface="Calibri" panose="020F0502020204030204"/>
                        </a:rPr>
                        <a:t>UOM</a:t>
                      </a:r>
                      <a:endParaRPr lang="en-US" sz="1000" b="1" i="0" u="none" strike="noStrike">
                        <a:latin typeface="Calibri" panose="020F05020202040302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i="0" u="none" strike="noStrike">
                          <a:latin typeface="Calibri" panose="020F0502020204030204"/>
                        </a:rPr>
                        <a:t>Total  Qty.</a:t>
                      </a:r>
                      <a:endParaRPr lang="en-US" sz="1000" b="1" i="0" u="none" strike="noStrike">
                        <a:latin typeface="Calibri" panose="020F05020202040302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i="0" u="none" strike="noStrike">
                          <a:latin typeface="Calibri" panose="020F0502020204030204"/>
                        </a:rPr>
                        <a:t>Completed Qty.</a:t>
                      </a:r>
                      <a:endParaRPr lang="en-US" sz="1000" b="1" i="0" u="none" strike="noStrike">
                        <a:latin typeface="Calibri" panose="020F05020202040302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i="0" u="none" strike="noStrike">
                          <a:latin typeface="Calibri" panose="020F0502020204030204"/>
                        </a:rPr>
                        <a:t>% of completion</a:t>
                      </a:r>
                      <a:endParaRPr lang="en-US" sz="1000" b="1" i="0" u="none" strike="noStrike">
                        <a:latin typeface="Calibri" panose="020F05020202040302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Excavation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cum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2300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2300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100.00%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Plum concrete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100.00%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Filling of hill earth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cum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612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2.94%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latin typeface="Calibri" panose="020F0502020204030204"/>
                        </a:rPr>
                        <a:t> </a:t>
                      </a:r>
                      <a:endParaRPr lang="en-US" sz="1000" b="0" i="0" u="none" strike="noStrike" dirty="0">
                        <a:latin typeface="Calibri" panose="020F0502020204030204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3416" name="Content Placeholder 6" descr="Villa - Progress Tracker - dt - 30th April 2010.bmp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304800" y="1676400"/>
            <a:ext cx="4495800" cy="4151313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dirty="0">
                <a:latin typeface="+mj-lt"/>
                <a:ea typeface="+mj-ea"/>
                <a:cs typeface="+mj-cs"/>
              </a:rPr>
              <a:t>Site images (dated 30/04/10)</a:t>
            </a:r>
            <a:endParaRPr dirty="0">
              <a:latin typeface="+mj-lt"/>
              <a:ea typeface="+mj-ea"/>
              <a:cs typeface="+mj-cs"/>
            </a:endParaRPr>
          </a:p>
        </p:txBody>
      </p:sp>
      <p:sp>
        <p:nvSpPr>
          <p:cNvPr id="14339" name="Text Placeholder 2"/>
          <p:cNvSpPr>
            <a:spLocks noGrp="1"/>
          </p:cNvSpPr>
          <p:nvPr>
            <p:ph type="body" idx="1"/>
          </p:nvPr>
        </p:nvSpPr>
        <p:spPr/>
        <p:txBody>
          <a:bodyPr vert="horz" wrap="square" lIns="91440" tIns="45720" rIns="91440" bIns="45720" anchor="b" anchorCtr="0"/>
          <a:p>
            <a:r>
              <a:rPr dirty="0">
                <a:latin typeface="+mn-lt"/>
                <a:ea typeface="+mn-ea"/>
                <a:cs typeface="+mn-cs"/>
              </a:rPr>
              <a:t>Villa – Column Rising Progress View</a:t>
            </a:r>
            <a:endParaRPr dirty="0">
              <a:latin typeface="+mn-lt"/>
              <a:ea typeface="+mn-ea"/>
              <a:cs typeface="+mn-cs"/>
            </a:endParaRPr>
          </a:p>
        </p:txBody>
      </p:sp>
      <p:sp>
        <p:nvSpPr>
          <p:cNvPr id="14340" name="Text Placeholder 4"/>
          <p:cNvSpPr>
            <a:spLocks noGrp="1"/>
          </p:cNvSpPr>
          <p:nvPr>
            <p:ph type="body" sz="quarter" idx="3"/>
          </p:nvPr>
        </p:nvSpPr>
        <p:spPr/>
        <p:txBody>
          <a:bodyPr vert="horz" wrap="square" lIns="91440" tIns="45720" rIns="91440" bIns="45720" anchor="b" anchorCtr="0"/>
          <a:p>
            <a:pPr>
              <a:buClrTx/>
              <a:buSzTx/>
              <a:buFontTx/>
            </a:pPr>
            <a:r>
              <a:rPr dirty="0">
                <a:latin typeface="+mn-lt"/>
                <a:ea typeface="+mn-ea"/>
                <a:cs typeface="+mn-cs"/>
              </a:rPr>
              <a:t>Villa – Slab Shuttering work - Progress View</a:t>
            </a:r>
            <a:endParaRPr dirty="0">
              <a:latin typeface="+mn-lt"/>
              <a:ea typeface="+mn-ea"/>
              <a:cs typeface="+mn-cs"/>
            </a:endParaRPr>
          </a:p>
        </p:txBody>
      </p:sp>
      <p:pic>
        <p:nvPicPr>
          <p:cNvPr id="14341" name="Content Placeholder 7" descr="progress photos 058.jpg"/>
          <p:cNvPicPr>
            <a:picLocks noGrp="1" noChangeAspect="1"/>
          </p:cNvPicPr>
          <p:nvPr>
            <p:ph sz="quarter" idx="4"/>
          </p:nvPr>
        </p:nvPicPr>
        <p:blipFill>
          <a:blip r:embed="rId1"/>
          <a:srcRect/>
          <a:stretch>
            <a:fillRect/>
          </a:stretch>
        </p:blipFill>
        <p:spPr>
          <a:xfrm>
            <a:off x="4714875" y="2687638"/>
            <a:ext cx="3902075" cy="2925762"/>
          </a:xfrm>
        </p:spPr>
      </p:pic>
      <p:pic>
        <p:nvPicPr>
          <p:cNvPr id="14342" name="Content Placeholder 7" descr="progress photos 055.jpg"/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527050" y="2687638"/>
            <a:ext cx="3900488" cy="2925762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dirty="0">
                <a:latin typeface="+mj-lt"/>
                <a:ea typeface="+mj-ea"/>
                <a:cs typeface="+mj-cs"/>
              </a:rPr>
              <a:t>Site Images (dated 30/04/10)</a:t>
            </a:r>
            <a:endParaRPr dirty="0">
              <a:latin typeface="+mj-lt"/>
              <a:ea typeface="+mj-ea"/>
              <a:cs typeface="+mj-cs"/>
            </a:endParaRPr>
          </a:p>
        </p:txBody>
      </p:sp>
      <p:sp>
        <p:nvSpPr>
          <p:cNvPr id="15363" name="Text Placeholder 2"/>
          <p:cNvSpPr>
            <a:spLocks noGrp="1"/>
          </p:cNvSpPr>
          <p:nvPr>
            <p:ph type="body" idx="1"/>
          </p:nvPr>
        </p:nvSpPr>
        <p:spPr/>
        <p:txBody>
          <a:bodyPr vert="horz" wrap="square" lIns="91440" tIns="45720" rIns="91440" bIns="45720" anchor="b" anchorCtr="0"/>
          <a:p>
            <a:r>
              <a:rPr sz="2000" dirty="0">
                <a:latin typeface="+mn-lt"/>
                <a:ea typeface="+mn-ea"/>
                <a:cs typeface="+mn-cs"/>
              </a:rPr>
              <a:t>Villa - Progress View</a:t>
            </a:r>
            <a:endParaRPr sz="2000" dirty="0">
              <a:latin typeface="+mn-lt"/>
              <a:ea typeface="+mn-ea"/>
              <a:cs typeface="+mn-cs"/>
            </a:endParaRPr>
          </a:p>
        </p:txBody>
      </p:sp>
      <p:sp>
        <p:nvSpPr>
          <p:cNvPr id="15364" name="Text Placeholder 4"/>
          <p:cNvSpPr>
            <a:spLocks noGrp="1"/>
          </p:cNvSpPr>
          <p:nvPr>
            <p:ph type="body" sz="quarter" idx="3"/>
          </p:nvPr>
        </p:nvSpPr>
        <p:spPr/>
        <p:txBody>
          <a:bodyPr vert="horz" wrap="square" lIns="91440" tIns="45720" rIns="91440" bIns="45720" anchor="b" anchorCtr="0"/>
          <a:p>
            <a:pPr>
              <a:buClrTx/>
              <a:buSzTx/>
              <a:buFontTx/>
            </a:pPr>
            <a:r>
              <a:rPr sz="2000" dirty="0">
                <a:latin typeface="+mn-lt"/>
                <a:ea typeface="+mn-ea"/>
                <a:cs typeface="+mn-cs"/>
              </a:rPr>
              <a:t>Sewer line progress </a:t>
            </a:r>
            <a:endParaRPr sz="2000" dirty="0">
              <a:latin typeface="+mn-lt"/>
              <a:ea typeface="+mn-ea"/>
              <a:cs typeface="+mn-cs"/>
            </a:endParaRPr>
          </a:p>
        </p:txBody>
      </p:sp>
      <p:pic>
        <p:nvPicPr>
          <p:cNvPr id="15365" name="Content Placeholder 9" descr="progress photos 006.jpg"/>
          <p:cNvPicPr>
            <a:picLocks noGrp="1" noChangeAspect="1"/>
          </p:cNvPicPr>
          <p:nvPr>
            <p:ph sz="quarter" idx="4"/>
          </p:nvPr>
        </p:nvPicPr>
        <p:blipFill>
          <a:blip r:embed="rId1"/>
          <a:srcRect/>
          <a:stretch>
            <a:fillRect/>
          </a:stretch>
        </p:blipFill>
        <p:spPr>
          <a:xfrm>
            <a:off x="4714875" y="2687638"/>
            <a:ext cx="3902075" cy="2925762"/>
          </a:xfrm>
        </p:spPr>
      </p:pic>
      <p:pic>
        <p:nvPicPr>
          <p:cNvPr id="15366" name="Content Placeholder 7" descr="progress photos 020.jpg"/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527050" y="2687638"/>
            <a:ext cx="3900488" cy="2925762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dirty="0">
                <a:latin typeface="+mj-lt"/>
                <a:ea typeface="+mj-ea"/>
                <a:cs typeface="+mj-cs"/>
              </a:rPr>
              <a:t>Site Images (dated 30/04/10)</a:t>
            </a:r>
            <a:endParaRPr dirty="0">
              <a:latin typeface="+mj-lt"/>
              <a:ea typeface="+mj-ea"/>
              <a:cs typeface="+mj-cs"/>
            </a:endParaRPr>
          </a:p>
        </p:txBody>
      </p:sp>
      <p:sp>
        <p:nvSpPr>
          <p:cNvPr id="16387" name="Text Placeholder 2"/>
          <p:cNvSpPr>
            <a:spLocks noGrp="1"/>
          </p:cNvSpPr>
          <p:nvPr>
            <p:ph type="body" idx="1"/>
          </p:nvPr>
        </p:nvSpPr>
        <p:spPr/>
        <p:txBody>
          <a:bodyPr vert="horz" wrap="square" lIns="91440" tIns="45720" rIns="91440" bIns="45720" anchor="b" anchorCtr="0"/>
          <a:p>
            <a:r>
              <a:rPr sz="2000" dirty="0">
                <a:latin typeface="+mn-lt"/>
                <a:ea typeface="+mn-ea"/>
                <a:cs typeface="+mn-cs"/>
              </a:rPr>
              <a:t>Canopy Works – Progress View</a:t>
            </a:r>
            <a:endParaRPr sz="2000" dirty="0">
              <a:latin typeface="+mn-lt"/>
              <a:ea typeface="+mn-ea"/>
              <a:cs typeface="+mn-cs"/>
            </a:endParaRPr>
          </a:p>
        </p:txBody>
      </p:sp>
      <p:pic>
        <p:nvPicPr>
          <p:cNvPr id="16388" name="Content Placeholder 8" descr="progress photos 048.jpg"/>
          <p:cNvPicPr>
            <a:picLocks noGrp="1" noChangeAspect="1"/>
          </p:cNvPicPr>
          <p:nvPr>
            <p:ph sz="half" idx="2"/>
          </p:nvPr>
        </p:nvPicPr>
        <p:blipFill>
          <a:blip r:embed="rId1"/>
          <a:srcRect/>
          <a:stretch>
            <a:fillRect/>
          </a:stretch>
        </p:blipFill>
        <p:spPr>
          <a:xfrm>
            <a:off x="527050" y="2687638"/>
            <a:ext cx="3900488" cy="2925762"/>
          </a:xfrm>
        </p:spPr>
      </p:pic>
      <p:sp>
        <p:nvSpPr>
          <p:cNvPr id="16389" name="Text Placeholder 4"/>
          <p:cNvSpPr>
            <a:spLocks noGrp="1"/>
          </p:cNvSpPr>
          <p:nvPr>
            <p:ph type="body" sz="quarter" idx="3"/>
          </p:nvPr>
        </p:nvSpPr>
        <p:spPr/>
        <p:txBody>
          <a:bodyPr vert="horz" wrap="square" lIns="91440" tIns="45720" rIns="91440" bIns="45720" anchor="b" anchorCtr="0"/>
          <a:p>
            <a:pPr>
              <a:buClrTx/>
              <a:buSzTx/>
              <a:buFontTx/>
            </a:pPr>
            <a:r>
              <a:rPr sz="2000" dirty="0">
                <a:latin typeface="+mn-lt"/>
                <a:ea typeface="+mn-ea"/>
                <a:cs typeface="+mn-cs"/>
              </a:rPr>
              <a:t>Storm Water Line Progress View</a:t>
            </a:r>
            <a:endParaRPr dirty="0">
              <a:latin typeface="+mn-lt"/>
              <a:ea typeface="+mn-ea"/>
              <a:cs typeface="+mn-cs"/>
            </a:endParaRPr>
          </a:p>
        </p:txBody>
      </p:sp>
      <p:pic>
        <p:nvPicPr>
          <p:cNvPr id="16390" name="Content Placeholder 9" descr="progress photos 008.jpg"/>
          <p:cNvPicPr>
            <a:picLocks noGrp="1" noChangeAspect="1"/>
          </p:cNvPicPr>
          <p:nvPr>
            <p:ph sz="quarter" idx="4"/>
          </p:nvPr>
        </p:nvPicPr>
        <p:blipFill>
          <a:blip r:embed="rId2"/>
          <a:srcRect/>
          <a:stretch>
            <a:fillRect/>
          </a:stretch>
        </p:blipFill>
        <p:spPr>
          <a:xfrm>
            <a:off x="4714875" y="2687638"/>
            <a:ext cx="3902075" cy="2925762"/>
          </a:xfrm>
        </p:spPr>
      </p:pic>
      <p:pic>
        <p:nvPicPr>
          <p:cNvPr id="16391" name="Picture 12" descr="DTH Villas plinth beam progress 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175" y="8070850"/>
            <a:ext cx="3371850" cy="3154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92" name="Picture 13" descr="Show apartment piling and DG erecti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8086725"/>
            <a:ext cx="3365500" cy="31480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dirty="0">
                <a:latin typeface="+mj-lt"/>
                <a:ea typeface="+mj-ea"/>
                <a:cs typeface="+mj-cs"/>
              </a:rPr>
              <a:t>Site Images (dated 30/04/10)</a:t>
            </a:r>
            <a:endParaRPr dirty="0">
              <a:latin typeface="+mj-lt"/>
              <a:ea typeface="+mj-ea"/>
              <a:cs typeface="+mj-cs"/>
            </a:endParaRPr>
          </a:p>
        </p:txBody>
      </p:sp>
      <p:sp>
        <p:nvSpPr>
          <p:cNvPr id="17411" name="Text Placeholder 2"/>
          <p:cNvSpPr>
            <a:spLocks noGrp="1"/>
          </p:cNvSpPr>
          <p:nvPr>
            <p:ph type="body" idx="1"/>
          </p:nvPr>
        </p:nvSpPr>
        <p:spPr/>
        <p:txBody>
          <a:bodyPr vert="horz" wrap="square" lIns="91440" tIns="45720" rIns="91440" bIns="45720" anchor="b" anchorCtr="0"/>
          <a:p>
            <a:r>
              <a:rPr sz="2000" dirty="0">
                <a:latin typeface="+mn-lt"/>
                <a:ea typeface="+mn-ea"/>
                <a:cs typeface="+mn-cs"/>
              </a:rPr>
              <a:t>Road Works WBM - Progress View</a:t>
            </a:r>
            <a:endParaRPr sz="2000" dirty="0">
              <a:latin typeface="+mn-lt"/>
              <a:ea typeface="+mn-ea"/>
              <a:cs typeface="+mn-cs"/>
            </a:endParaRPr>
          </a:p>
        </p:txBody>
      </p:sp>
      <p:sp>
        <p:nvSpPr>
          <p:cNvPr id="17412" name="Text Placeholder 4"/>
          <p:cNvSpPr>
            <a:spLocks noGrp="1"/>
          </p:cNvSpPr>
          <p:nvPr>
            <p:ph type="body" sz="quarter" idx="3"/>
          </p:nvPr>
        </p:nvSpPr>
        <p:spPr/>
        <p:txBody>
          <a:bodyPr vert="horz" wrap="square" lIns="91440" tIns="45720" rIns="91440" bIns="45720" anchor="b" anchorCtr="0"/>
          <a:p>
            <a:pPr>
              <a:buClrTx/>
              <a:buSzTx/>
              <a:buFontTx/>
            </a:pPr>
            <a:r>
              <a:rPr sz="2000" dirty="0">
                <a:latin typeface="+mn-lt"/>
                <a:ea typeface="+mn-ea"/>
                <a:cs typeface="+mn-cs"/>
              </a:rPr>
              <a:t>Show Apartment – Progress View</a:t>
            </a:r>
            <a:endParaRPr dirty="0">
              <a:latin typeface="+mn-lt"/>
              <a:ea typeface="+mn-ea"/>
              <a:cs typeface="+mn-cs"/>
            </a:endParaRPr>
          </a:p>
        </p:txBody>
      </p:sp>
      <p:pic>
        <p:nvPicPr>
          <p:cNvPr id="17413" name="Picture 12" descr="DTH Villas plinth beam progress view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175" y="8070850"/>
            <a:ext cx="3371850" cy="3154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4" name="Picture 13" descr="Show apartment piling and DG er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8086725"/>
            <a:ext cx="3365500" cy="31480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5" name="Content Placeholder 10" descr="progress photos 059.jpg"/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527050" y="2687638"/>
            <a:ext cx="3900488" cy="2925762"/>
          </a:xfrm>
        </p:spPr>
      </p:pic>
      <p:pic>
        <p:nvPicPr>
          <p:cNvPr id="17416" name="Content Placeholder 15" descr="progress photos 069.jpg"/>
          <p:cNvPicPr>
            <a:picLocks noGrp="1" noChangeAspect="1"/>
          </p:cNvPicPr>
          <p:nvPr>
            <p:ph sz="quarter" idx="4"/>
          </p:nvPr>
        </p:nvPicPr>
        <p:blipFill>
          <a:blip r:embed="rId4"/>
          <a:srcRect/>
          <a:stretch>
            <a:fillRect/>
          </a:stretch>
        </p:blipFill>
        <p:spPr>
          <a:xfrm>
            <a:off x="4714875" y="2687638"/>
            <a:ext cx="3902075" cy="2925762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dirty="0">
                <a:latin typeface="+mj-lt"/>
                <a:ea typeface="+mj-ea"/>
                <a:cs typeface="+mj-cs"/>
              </a:rPr>
              <a:t>Site Images (dated 30/04/10)</a:t>
            </a:r>
            <a:endParaRPr dirty="0">
              <a:latin typeface="+mj-lt"/>
              <a:ea typeface="+mj-ea"/>
              <a:cs typeface="+mj-cs"/>
            </a:endParaRPr>
          </a:p>
        </p:txBody>
      </p:sp>
      <p:sp>
        <p:nvSpPr>
          <p:cNvPr id="18435" name="Text Placeholder 2"/>
          <p:cNvSpPr>
            <a:spLocks noGrp="1"/>
          </p:cNvSpPr>
          <p:nvPr>
            <p:ph type="body" idx="1"/>
          </p:nvPr>
        </p:nvSpPr>
        <p:spPr/>
        <p:txBody>
          <a:bodyPr vert="horz" wrap="square" lIns="91440" tIns="45720" rIns="91440" bIns="45720" anchor="b" anchorCtr="0"/>
          <a:p>
            <a:r>
              <a:rPr sz="2000" dirty="0">
                <a:latin typeface="+mn-lt"/>
                <a:ea typeface="+mn-ea"/>
                <a:cs typeface="+mn-cs"/>
              </a:rPr>
              <a:t>Road Works WBM - Progress View</a:t>
            </a:r>
            <a:endParaRPr sz="2000" dirty="0">
              <a:latin typeface="+mn-lt"/>
              <a:ea typeface="+mn-ea"/>
              <a:cs typeface="+mn-cs"/>
            </a:endParaRPr>
          </a:p>
        </p:txBody>
      </p:sp>
      <p:sp>
        <p:nvSpPr>
          <p:cNvPr id="18436" name="Text Placeholder 4"/>
          <p:cNvSpPr>
            <a:spLocks noGrp="1"/>
          </p:cNvSpPr>
          <p:nvPr>
            <p:ph type="body" sz="quarter" idx="3"/>
          </p:nvPr>
        </p:nvSpPr>
        <p:spPr/>
        <p:txBody>
          <a:bodyPr vert="horz" wrap="square" lIns="91440" tIns="45720" rIns="91440" bIns="45720" anchor="b" anchorCtr="0"/>
          <a:p>
            <a:pPr>
              <a:buClrTx/>
              <a:buSzTx/>
              <a:buFontTx/>
            </a:pPr>
            <a:r>
              <a:rPr sz="2000" dirty="0">
                <a:latin typeface="+mn-lt"/>
                <a:ea typeface="+mn-ea"/>
                <a:cs typeface="+mn-cs"/>
              </a:rPr>
              <a:t>Road Work Progress View</a:t>
            </a:r>
            <a:endParaRPr dirty="0">
              <a:latin typeface="+mn-lt"/>
              <a:ea typeface="+mn-ea"/>
              <a:cs typeface="+mn-cs"/>
            </a:endParaRPr>
          </a:p>
        </p:txBody>
      </p:sp>
      <p:pic>
        <p:nvPicPr>
          <p:cNvPr id="18437" name="Picture 12" descr="DTH Villas plinth beam progress view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175" y="8070850"/>
            <a:ext cx="3371850" cy="3154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38" name="Picture 13" descr="Show apartment piling and DG er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8086725"/>
            <a:ext cx="3365500" cy="31480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39" name="Content Placeholder 14" descr="progress photos 026.jpg"/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527050" y="2687638"/>
            <a:ext cx="3900488" cy="2925762"/>
          </a:xfrm>
        </p:spPr>
      </p:pic>
      <p:pic>
        <p:nvPicPr>
          <p:cNvPr id="18440" name="Content Placeholder 17" descr="progress photos 023.jpg"/>
          <p:cNvPicPr>
            <a:picLocks noGrp="1" noChangeAspect="1"/>
          </p:cNvPicPr>
          <p:nvPr>
            <p:ph sz="quarter" idx="4"/>
          </p:nvPr>
        </p:nvPicPr>
        <p:blipFill>
          <a:blip r:embed="rId4"/>
          <a:srcRect/>
          <a:stretch>
            <a:fillRect/>
          </a:stretch>
        </p:blipFill>
        <p:spPr>
          <a:xfrm>
            <a:off x="4714875" y="2687638"/>
            <a:ext cx="3902075" cy="2925762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6636</Words>
  <Application>WPS Slides</Application>
  <PresentationFormat/>
  <Paragraphs>847</Paragraphs>
  <Slides>17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SimSun</vt:lpstr>
      <vt:lpstr>Wingdings</vt:lpstr>
      <vt:lpstr>Cambria</vt:lpstr>
      <vt:lpstr>Arial</vt:lpstr>
      <vt:lpstr>Times New Roman</vt:lpstr>
      <vt:lpstr>Calibri</vt:lpstr>
      <vt:lpstr>Calibri</vt:lpstr>
      <vt:lpstr>MS PGothic</vt:lpstr>
      <vt:lpstr>Microsoft YaHei</vt:lpstr>
      <vt:lpstr>Arial Unicode MS</vt:lpstr>
      <vt:lpstr>Default Design</vt:lpstr>
      <vt:lpstr>Excel.Sheet.8</vt:lpstr>
      <vt:lpstr>Business Review For the Month of April ‘10</vt:lpstr>
      <vt:lpstr>Project Management</vt:lpstr>
      <vt:lpstr>Planning &amp; Design </vt:lpstr>
      <vt:lpstr>Permits / Approvals</vt:lpstr>
      <vt:lpstr>Development Cost and Disbursements</vt:lpstr>
      <vt:lpstr>OUTLOOK  --  Projected payments</vt:lpstr>
      <vt:lpstr>COST PLAN</vt:lpstr>
      <vt:lpstr>Construction Progress </vt:lpstr>
      <vt:lpstr>Boundary wall Progress Tracker as on 30- April 2010</vt:lpstr>
      <vt:lpstr>Road Works – Progress Tracker</vt:lpstr>
      <vt:lpstr>Sewer line – Progress Tracker</vt:lpstr>
      <vt:lpstr>Villa – Progress Tracker</vt:lpstr>
      <vt:lpstr>Site images (dated 30/04/10)</vt:lpstr>
      <vt:lpstr>Site Images (dated 30/04/10)</vt:lpstr>
      <vt:lpstr>Site Images (dated 30/04/10)</vt:lpstr>
      <vt:lpstr>Site Images (dated 30/04/10)</vt:lpstr>
      <vt:lpstr>Site Images (dated 30/04/10)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mldl1339</dc:creator>
  <cp:lastModifiedBy>admin</cp:lastModifiedBy>
  <cp:revision>183</cp:revision>
  <dcterms:created xsi:type="dcterms:W3CDTF">2009-12-17T07:25:00Z</dcterms:created>
  <dcterms:modified xsi:type="dcterms:W3CDTF">2025-04-02T15:52:32Z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1243918A5B2E4504A36C4C04F88B3562_13</vt:lpwstr>
  </property>
  <property fmtid="{D5CDD505-2E9C-101B-9397-08002B2CF9AE}" pid="3" name="KSOProductBuildVer">
    <vt:lpwstr>1033-12.2.0.20782</vt:lpwstr>
  </property>
</Properties>
</file>